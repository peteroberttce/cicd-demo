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Override1.xml" ContentType="application/vnd.openxmlformats-officedocument.themeOverrid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theme/theme3.xml" ContentType="application/vnd.openxmlformats-officedocument.theme+xml"/>
  <Override PartName="/ppt/theme/themeOverride3.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 id="2147483976" r:id="rId5"/>
    <p:sldMasterId id="2147484038" r:id="rId6"/>
  </p:sldMasterIdLst>
  <p:notesMasterIdLst>
    <p:notesMasterId r:id="rId19"/>
  </p:notesMasterIdLst>
  <p:handoutMasterIdLst>
    <p:handoutMasterId r:id="rId20"/>
  </p:handoutMasterIdLst>
  <p:sldIdLst>
    <p:sldId id="637" r:id="rId7"/>
    <p:sldId id="2144212345" r:id="rId8"/>
    <p:sldId id="257" r:id="rId9"/>
    <p:sldId id="2147309204" r:id="rId10"/>
    <p:sldId id="2147309205" r:id="rId11"/>
    <p:sldId id="2147309206" r:id="rId12"/>
    <p:sldId id="2147309207" r:id="rId13"/>
    <p:sldId id="263" r:id="rId14"/>
    <p:sldId id="2147309203" r:id="rId15"/>
    <p:sldId id="2144212203" r:id="rId16"/>
    <p:sldId id="2147309198" r:id="rId17"/>
    <p:sldId id="2147309200" r:id="rId18"/>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4BA57A86-F7F4-48AA-91CE-D64F76206072}">
          <p14:sldIdLst>
            <p14:sldId id="637"/>
            <p14:sldId id="2144212345"/>
            <p14:sldId id="257"/>
            <p14:sldId id="2147309204"/>
            <p14:sldId id="2147309205"/>
            <p14:sldId id="2147309206"/>
            <p14:sldId id="2147309207"/>
            <p14:sldId id="263"/>
          </p14:sldIdLst>
        </p14:section>
        <p14:section name="References" id="{A442C032-CEA8-49FB-BEB6-73F6049E7D09}">
          <p14:sldIdLst>
            <p14:sldId id="2147309203"/>
            <p14:sldId id="2144212203"/>
          </p14:sldIdLst>
        </p14:section>
        <p14:section name="Ending" id="{ADB582C5-5B32-47FC-8902-C0067BFC53A2}">
          <p14:sldIdLst>
            <p14:sldId id="2147309198"/>
            <p14:sldId id="21473092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EFE"/>
    <a:srgbClr val="FEFEFE"/>
    <a:srgbClr val="FFFEFE"/>
    <a:srgbClr val="FFFFFD"/>
    <a:srgbClr val="FFFFFE"/>
    <a:srgbClr val="FFFEFF"/>
    <a:srgbClr val="FEFFFF"/>
    <a:srgbClr val="FFFFFF"/>
    <a:srgbClr val="FFFDFF"/>
    <a:srgbClr val="FD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94" autoAdjust="0"/>
    <p:restoredTop sz="92867" autoAdjust="0"/>
  </p:normalViewPr>
  <p:slideViewPr>
    <p:cSldViewPr snapToGrid="0" showGuides="1">
      <p:cViewPr varScale="1">
        <p:scale>
          <a:sx n="152" d="100"/>
          <a:sy n="152" d="100"/>
        </p:scale>
        <p:origin x="144" y="96"/>
      </p:cViewPr>
      <p:guideLst>
        <p:guide orient="horz" pos="2160"/>
        <p:guide pos="3840"/>
      </p:guideLst>
    </p:cSldViewPr>
  </p:slideViewPr>
  <p:outlineViewPr>
    <p:cViewPr>
      <p:scale>
        <a:sx n="33" d="100"/>
        <a:sy n="33" d="100"/>
      </p:scale>
      <p:origin x="0" y="-22096"/>
    </p:cViewPr>
  </p:outlineViewPr>
  <p:notesTextViewPr>
    <p:cViewPr>
      <p:scale>
        <a:sx n="3" d="2"/>
        <a:sy n="3" d="2"/>
      </p:scale>
      <p:origin x="0" y="0"/>
    </p:cViewPr>
  </p:notesTextViewPr>
  <p:sorterViewPr>
    <p:cViewPr>
      <p:scale>
        <a:sx n="80" d="100"/>
        <a:sy n="80" d="100"/>
      </p:scale>
      <p:origin x="0" y="-3240"/>
    </p:cViewPr>
  </p:sorterViewPr>
  <p:notesViewPr>
    <p:cSldViewPr snapToGrid="0" showGuides="1">
      <p:cViewPr varScale="1">
        <p:scale>
          <a:sx n="50" d="100"/>
          <a:sy n="50" d="100"/>
        </p:scale>
        <p:origin x="2804" y="44"/>
      </p:cViewPr>
      <p:guideLst>
        <p:guide orient="horz" pos="3888"/>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3" name="Date Placeholder 2">
            <a:extLst>
              <a:ext uri="{FF2B5EF4-FFF2-40B4-BE49-F238E27FC236}">
                <a16:creationId xmlns:a16="http://schemas.microsoft.com/office/drawing/2014/main" id="{8F51457F-2D60-4187-92B7-C5BBED78E963}"/>
              </a:ext>
            </a:extLst>
          </p:cNvPr>
          <p:cNvSpPr>
            <a:spLocks noGrp="1"/>
          </p:cNvSpPr>
          <p:nvPr>
            <p:ph type="dt" sz="quarter" idx="1"/>
          </p:nvPr>
        </p:nvSpPr>
        <p:spPr>
          <a:xfrm>
            <a:off x="4143589" y="1"/>
            <a:ext cx="3169919" cy="619364"/>
          </a:xfrm>
          <a:prstGeom prst="rect">
            <a:avLst/>
          </a:prstGeom>
        </p:spPr>
        <p:txBody>
          <a:bodyPr vert="horz" lIns="112299" tIns="56150" rIns="112299" bIns="56150" rtlCol="0"/>
          <a:lstStyle>
            <a:lvl1pPr algn="r">
              <a:defRPr sz="1600"/>
            </a:lvl1pPr>
          </a:lstStyle>
          <a:p>
            <a:fld id="{320DD655-51D6-466D-8D72-5C78765FC630}" type="datetimeFigureOut">
              <a:rPr lang="en-US" smtClean="0">
                <a:latin typeface="Oracle Sans Tab" panose="020B0503020204020204" pitchFamily="34" charset="0"/>
              </a:rPr>
              <a:t>4/23/2026</a:t>
            </a:fld>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Oracle Sans Tab" panose="020B0503020204020204" pitchFamily="34" charset="0"/>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Oracle Sans Tab" panose="020B0503020204020204" pitchFamily="34" charset="0"/>
              </a:defRPr>
            </a:lvl1pPr>
          </a:lstStyle>
          <a:p>
            <a:fld id="{4F9C25BA-F9B0-4418-8CA0-3A9DF1256BA5}" type="datetimeFigureOut">
              <a:rPr lang="en-US" smtClean="0"/>
              <a:pPr/>
              <a:t>4/23/2026</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Oracle Sans Tab" panose="020B0503020204020204" pitchFamily="34" charset="0"/>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Oracle Sans Tab" panose="020B0503020204020204" pitchFamily="34" charset="0"/>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thank all the contributors to this workshop: Valeria, Bogdan, Brian, Aishwarya, Milomir and a very special thanks to PM Niall Commiskey for his valuable insights and support.</a:t>
            </a:r>
          </a:p>
        </p:txBody>
      </p:sp>
      <p:sp>
        <p:nvSpPr>
          <p:cNvPr id="4" name="Slide Number Placeholder 3"/>
          <p:cNvSpPr>
            <a:spLocks noGrp="1"/>
          </p:cNvSpPr>
          <p:nvPr>
            <p:ph type="sldNum" sz="quarter" idx="5"/>
          </p:nvPr>
        </p:nvSpPr>
        <p:spPr/>
        <p:txBody>
          <a:bodyPr/>
          <a:lstStyle/>
          <a:p>
            <a:fld id="{9EDC5964-3162-43B5-B1EC-63C8D166D7D3}" type="slidenum">
              <a:rPr lang="en-US" smtClean="0"/>
              <a:pPr/>
              <a:t>1</a:t>
            </a:fld>
            <a:endParaRPr lang="en-US" dirty="0"/>
          </a:p>
        </p:txBody>
      </p:sp>
    </p:spTree>
    <p:extLst>
      <p:ext uri="{BB962C8B-B14F-4D97-AF65-F5344CB8AC3E}">
        <p14:creationId xmlns:p14="http://schemas.microsoft.com/office/powerpoint/2010/main" val="37988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BF6516-3257-D14A-8A19-70F40EB41A16}"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CC16FB-9D68-C74B-AABD-CDFC2ED74F2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5867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pPr/>
              <a:t>11</a:t>
            </a:fld>
            <a:endParaRPr lang="en-US" dirty="0"/>
          </a:p>
        </p:txBody>
      </p:sp>
    </p:spTree>
    <p:extLst>
      <p:ext uri="{BB962C8B-B14F-4D97-AF65-F5344CB8AC3E}">
        <p14:creationId xmlns:p14="http://schemas.microsoft.com/office/powerpoint/2010/main" val="17954270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hyperlink" Target="mailto:mailto:quietperiod_ww_grp@oracle.com" TargetMode="External"/><Relationship Id="rId2" Type="http://schemas.openxmlformats.org/officeDocument/2006/relationships/hyperlink" Target="https://confluence.oraclecorp.com/confluence/display/DemandCenter/Safe+Harbor+Disclosures+for+Presentations" TargetMode="External"/><Relationship Id="rId1" Type="http://schemas.openxmlformats.org/officeDocument/2006/relationships/slideMaster" Target="../slideMasters/slideMaster2.xml"/><Relationship Id="rId4" Type="http://schemas.openxmlformats.org/officeDocument/2006/relationships/image" Target="../media/image25.png"/></Relationships>
</file>

<file path=ppt/slideLayouts/_rels/slideLayout102.xml.rels><?xml version="1.0" encoding="UTF-8" standalone="yes"?>
<Relationships xmlns="http://schemas.openxmlformats.org/package/2006/relationships"><Relationship Id="rId3" Type="http://schemas.openxmlformats.org/officeDocument/2006/relationships/hyperlink" Target="https://confluence.oraclecorp.com/confluence/display/DemandCenter/Safe+Harbor+Disclosures+for+Presentations" TargetMode="External"/><Relationship Id="rId2" Type="http://schemas.openxmlformats.org/officeDocument/2006/relationships/image" Target="../media/image26.png"/><Relationship Id="rId1" Type="http://schemas.openxmlformats.org/officeDocument/2006/relationships/slideMaster" Target="../slideMasters/slideMaster2.xml"/><Relationship Id="rId4" Type="http://schemas.openxmlformats.org/officeDocument/2006/relationships/hyperlink" Target="mailto:mailto:quietperiod_ww_grp@oracle.com" TargetMode="Externa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emf"/></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emf"/></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4.sv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10.sv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8.jpeg"/><Relationship Id="rId4" Type="http://schemas.openxmlformats.org/officeDocument/2006/relationships/image" Target="../media/image4.sv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jpe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9.jpeg"/><Relationship Id="rId4" Type="http://schemas.openxmlformats.org/officeDocument/2006/relationships/image" Target="../media/image4.sv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9.jpeg"/><Relationship Id="rId4" Type="http://schemas.openxmlformats.org/officeDocument/2006/relationships/image" Target="../media/image10.sv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0.jpe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0.jpe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1.jpeg"/><Relationship Id="rId4" Type="http://schemas.openxmlformats.org/officeDocument/2006/relationships/image" Target="../media/image4.sv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1.jpeg"/><Relationship Id="rId4" Type="http://schemas.openxmlformats.org/officeDocument/2006/relationships/image" Target="../media/image10.sv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2.jpeg"/><Relationship Id="rId4" Type="http://schemas.openxmlformats.org/officeDocument/2006/relationships/image" Target="../media/image4.sv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2.jpeg"/><Relationship Id="rId4" Type="http://schemas.openxmlformats.org/officeDocument/2006/relationships/image" Target="../media/image10.sv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4.sv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10.sv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4.jpeg"/><Relationship Id="rId4" Type="http://schemas.openxmlformats.org/officeDocument/2006/relationships/image" Target="../media/image4.sv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4.jpeg"/><Relationship Id="rId4" Type="http://schemas.openxmlformats.org/officeDocument/2006/relationships/image" Target="../media/image10.sv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5.jpeg"/><Relationship Id="rId4" Type="http://schemas.openxmlformats.org/officeDocument/2006/relationships/image" Target="../media/image4.sv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5.jpeg"/><Relationship Id="rId4" Type="http://schemas.openxmlformats.org/officeDocument/2006/relationships/image" Target="../media/image10.sv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4.sv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10.sv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311639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dirty="0"/>
              <a:t>Copyright © 2025, Oracle and/or its affiliates  |  Confidential: Internal/Restricted/Highly Restricted</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7756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90422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0917301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994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83491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53884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6859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18591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710606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665286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004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9422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491591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821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3806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212601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611327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5480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3137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041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2059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6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446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92348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0849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79762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651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7698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58322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455227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6439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15240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99911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2663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99360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61514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1118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01202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79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48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2798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010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58854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dirty="0"/>
              <a:t>Copyright © 2025, Oracle and/or its affiliates  |  Confidential: Internal/Restricted/Highly Restricted</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9568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75300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34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90119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66431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dirty="0"/>
              <a:t>Our mission is to help people see data in new ways, discover insights,</a:t>
            </a:r>
            <a:br>
              <a:rPr lang="en-US" dirty="0"/>
            </a:br>
            <a:r>
              <a:rPr lang="en-US" dirty="0"/>
              <a:t>unlock endless possibilities.</a:t>
            </a:r>
          </a:p>
        </p:txBody>
      </p:sp>
    </p:spTree>
    <p:extLst>
      <p:ext uri="{BB962C8B-B14F-4D97-AF65-F5344CB8AC3E}">
        <p14:creationId xmlns:p14="http://schemas.microsoft.com/office/powerpoint/2010/main" val="9853090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490562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259241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Light - Safe harbor_Pillar">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7605915-A98A-1144-8EED-9444C9D723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25134"/>
            <a:ext cx="12192000" cy="194294"/>
          </a:xfrm>
          <a:prstGeom prst="rect">
            <a:avLst/>
          </a:prstGeom>
        </p:spPr>
      </p:pic>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p:txBody>
          <a:bodyPr/>
          <a:lstStyle/>
          <a:p>
            <a:r>
              <a:rPr lang="en-US" dirty="0"/>
              <a:t>Safe harbor statement</a:t>
            </a:r>
          </a:p>
        </p:txBody>
      </p:sp>
      <p:sp>
        <p:nvSpPr>
          <p:cNvPr id="10" name="Rectangle 9">
            <a:extLst>
              <a:ext uri="{FF2B5EF4-FFF2-40B4-BE49-F238E27FC236}">
                <a16:creationId xmlns:a16="http://schemas.microsoft.com/office/drawing/2014/main" id="{D83A1D03-5992-4722-83A9-AE5F71E76267}"/>
              </a:ext>
              <a:ext uri="{C183D7F6-B498-43B3-948B-1728B52AA6E4}">
                <adec:decorative xmlns:adec="http://schemas.microsoft.com/office/drawing/2017/decorative" val="1"/>
              </a:ext>
            </a:extLst>
          </p:cNvPr>
          <p:cNvSpPr/>
          <p:nvPr userDrawn="1"/>
        </p:nvSpPr>
        <p:spPr>
          <a:xfrm>
            <a:off x="762000" y="1389381"/>
            <a:ext cx="301752" cy="4571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88F1C8-B2B7-4391-AA71-B32B3F91D2B2}"/>
              </a:ext>
            </a:extLst>
          </p:cNvPr>
          <p:cNvSpPr/>
          <p:nvPr userDrawn="1"/>
        </p:nvSpPr>
        <p:spPr>
          <a:xfrm>
            <a:off x="762001" y="1951672"/>
            <a:ext cx="5957976" cy="2240678"/>
          </a:xfrm>
          <a:prstGeom prst="rect">
            <a:avLst/>
          </a:prstGeom>
        </p:spPr>
        <p:txBody>
          <a:bodyPr wrap="square" lIns="0">
            <a:spAutoFit/>
          </a:bodyPr>
          <a:lstStyle/>
          <a:p>
            <a:pPr>
              <a:lnSpc>
                <a:spcPts val="2120"/>
              </a:lnSpc>
              <a:spcAft>
                <a:spcPts val="0"/>
              </a:spcAft>
            </a:pPr>
            <a:r>
              <a:rPr lang="en-US" sz="1600" b="0" i="0" dirty="0">
                <a:solidFill>
                  <a:schemeClr val="tx1"/>
                </a:solidFill>
                <a:latin typeface="Oracle Sans Light" panose="020B0403020204020204" pitchFamily="34" charset="0"/>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a:t>
            </a:r>
            <a:br>
              <a:rPr lang="en-US" sz="1600" b="0" i="0" dirty="0">
                <a:solidFill>
                  <a:schemeClr val="tx1"/>
                </a:solidFill>
                <a:latin typeface="Oracle Sans Light" panose="020B0403020204020204" pitchFamily="34" charset="0"/>
                <a:cs typeface="Oracle Sans Light" panose="020B0403020204020204" pitchFamily="34" charset="0"/>
              </a:rPr>
            </a:br>
            <a:r>
              <a:rPr lang="en-US" sz="1600" b="0" i="0" dirty="0">
                <a:solidFill>
                  <a:schemeClr val="tx1"/>
                </a:solidFill>
                <a:latin typeface="Oracle Sans Light" panose="020B0403020204020204" pitchFamily="34" charset="0"/>
                <a:cs typeface="Oracle Sans Light" panose="020B0403020204020204" pitchFamily="34" charset="0"/>
              </a:rPr>
              <a:t>upon in making purchasing decisions. The development, release, timing, and pricing of any features or functionality described for Oracle’s products may change and remains at the sole discretion of Oracle Corporation.</a:t>
            </a:r>
          </a:p>
        </p:txBody>
      </p:sp>
      <p:sp>
        <p:nvSpPr>
          <p:cNvPr id="16" name="Slide Number Placeholder 7">
            <a:extLst>
              <a:ext uri="{FF2B5EF4-FFF2-40B4-BE49-F238E27FC236}">
                <a16:creationId xmlns:a16="http://schemas.microsoft.com/office/drawing/2014/main" id="{B241CCCC-EA97-6742-BF3D-7A86426E8A5F}"/>
              </a:ext>
            </a:extLst>
          </p:cNvPr>
          <p:cNvSpPr>
            <a:spLocks noGrp="1"/>
          </p:cNvSpPr>
          <p:nvPr>
            <p:ph type="sldNum" sz="quarter" idx="12"/>
          </p:nvPr>
        </p:nvSpPr>
        <p:spPr>
          <a:xfrm>
            <a:off x="762000" y="6435235"/>
            <a:ext cx="365760" cy="365760"/>
          </a:xfrm>
        </p:spPr>
        <p:txBody>
          <a:bodyPr/>
          <a:lstStyle/>
          <a:p>
            <a:fld id="{345D60D9-5372-5F40-9443-0F9AE5BDC3C8}" type="slidenum">
              <a:rPr lang="en-US" smtClean="0"/>
              <a:pPr/>
              <a:t>‹#›</a:t>
            </a:fld>
            <a:endParaRPr lang="en-US" dirty="0"/>
          </a:p>
        </p:txBody>
      </p:sp>
      <p:sp>
        <p:nvSpPr>
          <p:cNvPr id="12" name="Footer Placeholder 4">
            <a:extLst>
              <a:ext uri="{FF2B5EF4-FFF2-40B4-BE49-F238E27FC236}">
                <a16:creationId xmlns:a16="http://schemas.microsoft.com/office/drawing/2014/main" id="{19266FB9-CF65-F948-8DDE-9A86339B6C7B}"/>
              </a:ext>
            </a:extLst>
          </p:cNvPr>
          <p:cNvSpPr>
            <a:spLocks noGrp="1"/>
          </p:cNvSpPr>
          <p:nvPr>
            <p:ph type="ftr" sz="quarter" idx="11"/>
          </p:nvPr>
        </p:nvSpPr>
        <p:spPr>
          <a:xfrm>
            <a:off x="1127759" y="6435553"/>
            <a:ext cx="5745379" cy="365125"/>
          </a:xfrm>
        </p:spPr>
        <p:txBody>
          <a:bodyPr/>
          <a:lstStyle/>
          <a:p>
            <a:r>
              <a:rPr lang="en-US" dirty="0"/>
              <a:t>Copyright © 2025, Oracle and/or its affiliates</a:t>
            </a:r>
          </a:p>
        </p:txBody>
      </p:sp>
      <p:sp>
        <p:nvSpPr>
          <p:cNvPr id="9" name="Date Placeholder 2">
            <a:extLst>
              <a:ext uri="{FF2B5EF4-FFF2-40B4-BE49-F238E27FC236}">
                <a16:creationId xmlns:a16="http://schemas.microsoft.com/office/drawing/2014/main" id="{7A9CB709-59EB-5E4D-ADE9-014D4AB90E35}"/>
              </a:ext>
            </a:extLst>
          </p:cNvPr>
          <p:cNvSpPr>
            <a:spLocks noGrp="1"/>
          </p:cNvSpPr>
          <p:nvPr>
            <p:ph type="dt" sz="half" idx="10"/>
          </p:nvPr>
        </p:nvSpPr>
        <p:spPr>
          <a:xfrm>
            <a:off x="6873138" y="6437179"/>
            <a:ext cx="2743200" cy="363500"/>
          </a:xfrm>
        </p:spPr>
        <p:txBody>
          <a:bodyPr/>
          <a:lstStyle/>
          <a:p>
            <a:r>
              <a:rPr lang="en-US"/>
              <a:t>[Date]</a:t>
            </a:r>
            <a:endParaRPr lang="en-US" dirty="0"/>
          </a:p>
        </p:txBody>
      </p:sp>
    </p:spTree>
    <p:extLst>
      <p:ext uri="{BB962C8B-B14F-4D97-AF65-F5344CB8AC3E}">
        <p14:creationId xmlns:p14="http://schemas.microsoft.com/office/powerpoint/2010/main" val="6334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p15="http://schemas.microsoft.com/office/powerpoint/2012/main">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secHead">
  <p:cSld name="Light Title and single colum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B9E9CD-D1E8-2941-B6E9-04C71E3BFC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37183" y="4508411"/>
            <a:ext cx="5854818" cy="2341927"/>
          </a:xfrm>
          <a:prstGeom prst="rect">
            <a:avLst/>
          </a:prstGeom>
        </p:spPr>
      </p:pic>
      <p:pic>
        <p:nvPicPr>
          <p:cNvPr id="8" name="Picture 7">
            <a:extLst>
              <a:ext uri="{FF2B5EF4-FFF2-40B4-BE49-F238E27FC236}">
                <a16:creationId xmlns:a16="http://schemas.microsoft.com/office/drawing/2014/main" id="{D80E6547-E553-8B4C-B613-A55206049B2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
        <p:nvSpPr>
          <p:cNvPr id="2" name="Title 1">
            <a:extLst>
              <a:ext uri="{FF2B5EF4-FFF2-40B4-BE49-F238E27FC236}">
                <a16:creationId xmlns:a16="http://schemas.microsoft.com/office/drawing/2014/main" id="{607B599F-269A-4E45-BB4E-31A49D2385EB}"/>
              </a:ext>
            </a:extLst>
          </p:cNvPr>
          <p:cNvSpPr>
            <a:spLocks noGrp="1"/>
          </p:cNvSpPr>
          <p:nvPr>
            <p:ph type="title" hasCustomPrompt="1"/>
          </p:nvPr>
        </p:nvSpPr>
        <p:spPr>
          <a:xfrm>
            <a:off x="768096" y="783026"/>
            <a:ext cx="9887834" cy="844095"/>
          </a:xfrm>
        </p:spPr>
        <p:txBody>
          <a:bodyPr vert="horz" lIns="0" tIns="45720" rIns="0" bIns="45720" rtlCol="0" anchor="b">
            <a:noAutofit/>
          </a:bodyPr>
          <a:lstStyle>
            <a:lvl1pPr>
              <a:defRPr lang="en-US" sz="2400" b="1" i="0" baseline="0">
                <a:latin typeface="Oracle Sans" panose="020B0503020204020204" pitchFamily="34" charset="0"/>
                <a:ea typeface="+mn-ea"/>
                <a:cs typeface="Oracle Sans" panose="020B0503020204020204" pitchFamily="34" charset="0"/>
              </a:defRPr>
            </a:lvl1pPr>
          </a:lstStyle>
          <a:p>
            <a:pPr marL="0" lvl="0" indent="0">
              <a:spcBef>
                <a:spcPts val="1000"/>
              </a:spcBef>
              <a:buFont typeface="Arial" panose="020B0604020202020204" pitchFamily="34" charset="0"/>
            </a:pPr>
            <a:r>
              <a:rPr lang="en-US" dirty="0"/>
              <a:t>Title and Subtitle Layout</a:t>
            </a:r>
          </a:p>
        </p:txBody>
      </p:sp>
      <p:sp>
        <p:nvSpPr>
          <p:cNvPr id="3" name="Text Placeholder 2">
            <a:extLst>
              <a:ext uri="{FF2B5EF4-FFF2-40B4-BE49-F238E27FC236}">
                <a16:creationId xmlns:a16="http://schemas.microsoft.com/office/drawing/2014/main" id="{FD86EFD9-8225-47A7-9DFF-A350F67E94AA}"/>
              </a:ext>
            </a:extLst>
          </p:cNvPr>
          <p:cNvSpPr>
            <a:spLocks noGrp="1"/>
          </p:cNvSpPr>
          <p:nvPr>
            <p:ph type="body" idx="1" hasCustomPrompt="1"/>
          </p:nvPr>
        </p:nvSpPr>
        <p:spPr>
          <a:xfrm>
            <a:off x="768095" y="2288559"/>
            <a:ext cx="9887835" cy="3360372"/>
          </a:xfrm>
        </p:spPr>
        <p:txBody>
          <a:bodyPr lIns="0" rIns="0">
            <a:noAutofit/>
          </a:bodyPr>
          <a:lstStyle>
            <a:lvl1pPr marL="0" indent="0">
              <a:lnSpc>
                <a:spcPct val="100000"/>
              </a:lnSpc>
              <a:spcBef>
                <a:spcPts val="0"/>
              </a:spcBef>
              <a:buNone/>
              <a:defRPr sz="1800" b="0" i="0" kern="0" spc="0" baseline="0">
                <a:solidFill>
                  <a:srgbClr val="4A362B"/>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vitae </a:t>
            </a:r>
            <a:r>
              <a:rPr lang="en-US" dirty="0" err="1"/>
              <a:t>interdum</a:t>
            </a:r>
            <a:r>
              <a:rPr lang="en-US" dirty="0"/>
              <a:t> diam, non </a:t>
            </a:r>
            <a:r>
              <a:rPr lang="en-US" dirty="0" err="1"/>
              <a:t>aliquet</a:t>
            </a:r>
            <a:r>
              <a:rPr lang="en-US" dirty="0"/>
              <a:t> </a:t>
            </a:r>
            <a:r>
              <a:rPr lang="en-US" dirty="0" err="1"/>
              <a:t>enim</a:t>
            </a:r>
            <a:r>
              <a:rPr lang="en-US" dirty="0"/>
              <a:t>. </a:t>
            </a:r>
            <a:r>
              <a:rPr lang="en-US" dirty="0" err="1"/>
              <a:t>Donec</a:t>
            </a:r>
            <a:r>
              <a:rPr lang="en-US" dirty="0"/>
              <a:t> </a:t>
            </a:r>
            <a:r>
              <a:rPr lang="en-US" dirty="0" err="1"/>
              <a:t>auctor</a:t>
            </a:r>
            <a:r>
              <a:rPr lang="en-US" dirty="0"/>
              <a:t> </a:t>
            </a:r>
            <a:r>
              <a:rPr lang="en-US" dirty="0" err="1"/>
              <a:t>metus</a:t>
            </a:r>
            <a:r>
              <a:rPr lang="en-US" dirty="0"/>
              <a:t> sed </a:t>
            </a:r>
            <a:r>
              <a:rPr lang="en-US" dirty="0" err="1"/>
              <a:t>velit</a:t>
            </a:r>
            <a:r>
              <a:rPr lang="en-US" dirty="0"/>
              <a:t> </a:t>
            </a:r>
            <a:r>
              <a:rPr lang="en-US" dirty="0" err="1"/>
              <a:t>imperdiet</a:t>
            </a:r>
            <a:r>
              <a:rPr lang="en-US" dirty="0"/>
              <a:t> </a:t>
            </a:r>
            <a:r>
              <a:rPr lang="en-US" dirty="0" err="1"/>
              <a:t>consectetur</a:t>
            </a:r>
            <a:r>
              <a:rPr lang="en-US" dirty="0"/>
              <a:t>. </a:t>
            </a:r>
            <a:r>
              <a:rPr lang="en-US" dirty="0" err="1"/>
              <a:t>Aenean</a:t>
            </a:r>
            <a:r>
              <a:rPr lang="en-US" dirty="0"/>
              <a:t> et </a:t>
            </a:r>
            <a:r>
              <a:rPr lang="en-US" dirty="0" err="1"/>
              <a:t>turpis</a:t>
            </a:r>
            <a:r>
              <a:rPr lang="en-US" dirty="0"/>
              <a:t> </a:t>
            </a:r>
            <a:r>
              <a:rPr lang="en-US" dirty="0" err="1"/>
              <a:t>sapien</a:t>
            </a:r>
            <a:r>
              <a:rPr lang="en-US" dirty="0"/>
              <a:t>.</a:t>
            </a:r>
          </a:p>
        </p:txBody>
      </p:sp>
      <p:sp>
        <p:nvSpPr>
          <p:cNvPr id="10" name="Rectangle 9">
            <a:extLst>
              <a:ext uri="{FF2B5EF4-FFF2-40B4-BE49-F238E27FC236}">
                <a16:creationId xmlns:a16="http://schemas.microsoft.com/office/drawing/2014/main" id="{324354AA-8715-3B44-8031-FEACECD4374F}"/>
              </a:ext>
            </a:extLst>
          </p:cNvPr>
          <p:cNvSpPr/>
          <p:nvPr userDrawn="1"/>
        </p:nvSpPr>
        <p:spPr>
          <a:xfrm>
            <a:off x="768096" y="1867578"/>
            <a:ext cx="310896" cy="365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0A31DDD-B87C-9941-AC16-648C97686F89}"/>
              </a:ext>
            </a:extLst>
          </p:cNvPr>
          <p:cNvPicPr>
            <a:picLocks noChangeAspect="1"/>
          </p:cNvPicPr>
          <p:nvPr userDrawn="1"/>
        </p:nvPicPr>
        <p:blipFill>
          <a:blip r:embed="rId4"/>
          <a:stretch>
            <a:fillRect/>
          </a:stretch>
        </p:blipFill>
        <p:spPr>
          <a:xfrm>
            <a:off x="11437197" y="6356350"/>
            <a:ext cx="501650" cy="501650"/>
          </a:xfrm>
          <a:prstGeom prst="rect">
            <a:avLst/>
          </a:prstGeom>
        </p:spPr>
      </p:pic>
      <p:sp>
        <p:nvSpPr>
          <p:cNvPr id="4" name="Footer Placeholder 3">
            <a:extLst>
              <a:ext uri="{FF2B5EF4-FFF2-40B4-BE49-F238E27FC236}">
                <a16:creationId xmlns:a16="http://schemas.microsoft.com/office/drawing/2014/main" id="{73307A0B-BD36-4925-BB53-F5C39932C524}"/>
              </a:ext>
            </a:extLst>
          </p:cNvPr>
          <p:cNvSpPr>
            <a:spLocks noGrp="1"/>
          </p:cNvSpPr>
          <p:nvPr>
            <p:ph type="ftr" sz="quarter" idx="10"/>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199B5254-C1BE-4BD7-AEA0-11CA078C9892}"/>
              </a:ext>
            </a:extLst>
          </p:cNvPr>
          <p:cNvSpPr>
            <a:spLocks noGrp="1"/>
          </p:cNvSpPr>
          <p:nvPr>
            <p:ph type="sldNum" sz="quarter" idx="11"/>
          </p:nvPr>
        </p:nvSpPr>
        <p:spPr/>
        <p:txBody>
          <a:bodyPr/>
          <a:lstStyle/>
          <a:p>
            <a:fld id="{7C371504-33D9-B044-8C50-620C44A06CB1}" type="slidenum">
              <a:rPr lang="en-US" smtClean="0"/>
              <a:pPr/>
              <a:t>‹#›</a:t>
            </a:fld>
            <a:endParaRPr lang="en-US" dirty="0"/>
          </a:p>
        </p:txBody>
      </p:sp>
    </p:spTree>
    <p:extLst>
      <p:ext uri="{BB962C8B-B14F-4D97-AF65-F5344CB8AC3E}">
        <p14:creationId xmlns:p14="http://schemas.microsoft.com/office/powerpoint/2010/main" val="15190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8916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911567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825905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9636801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2472885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457001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495476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331536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98494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2379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0743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678417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9430081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936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005655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37477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53142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44003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790948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566762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654126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94364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4239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37058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11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865534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409213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5317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411148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8160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412424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3314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2061924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70454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878068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8881331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695117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8429795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8660720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20751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01040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419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8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0323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Light - Safe Harbor">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F7C5FACA-CB69-F341-96EC-260102929140}"/>
              </a:ext>
            </a:extLst>
          </p:cNvPr>
          <p:cNvSpPr txBox="1"/>
          <p:nvPr userDrawn="1"/>
        </p:nvSpPr>
        <p:spPr>
          <a:xfrm>
            <a:off x="766762" y="184150"/>
            <a:ext cx="10671048" cy="822960"/>
          </a:xfrm>
          <a:prstGeom prst="rect">
            <a:avLst/>
          </a:prstGeom>
        </p:spPr>
        <p:txBody>
          <a:bodyPr vert="horz" lIns="0" tIns="0" rIns="0" bIns="0" rtlCol="0" anchor="b">
            <a:noAutofit/>
          </a:bodyPr>
          <a:lstStyle>
            <a:lvl1pPr lvl="0" indent="0">
              <a:lnSpc>
                <a:spcPct val="95000"/>
              </a:lnSpc>
              <a:spcBef>
                <a:spcPts val="1000"/>
              </a:spcBef>
              <a:buFont typeface="Arial" panose="020B0604020202020204" pitchFamily="34" charset="0"/>
              <a:buNone/>
              <a:defRPr sz="2400" b="1" i="0" baseline="0">
                <a:solidFill>
                  <a:schemeClr val="bg1"/>
                </a:solidFill>
                <a:latin typeface="Oracle Sans" panose="020B0503020204020204" pitchFamily="34" charset="0"/>
                <a:cs typeface="Oracle Sans" panose="020B0503020204020204" pitchFamily="34" charset="0"/>
              </a:defRPr>
            </a:lvl1pPr>
          </a:lstStyle>
          <a:p>
            <a:pPr lvl="0"/>
            <a:r>
              <a:rPr lang="en-US" dirty="0">
                <a:solidFill>
                  <a:schemeClr val="tx1"/>
                </a:solidFill>
                <a:latin typeface="+mn-lt"/>
                <a:cs typeface="Arial" panose="020B0604020202020204" pitchFamily="34" charset="0"/>
              </a:rPr>
              <a:t>Safe harbor statement</a:t>
            </a:r>
          </a:p>
        </p:txBody>
      </p:sp>
      <p:sp>
        <p:nvSpPr>
          <p:cNvPr id="14" name="Text Field">
            <a:extLst>
              <a:ext uri="{FF2B5EF4-FFF2-40B4-BE49-F238E27FC236}">
                <a16:creationId xmlns:a16="http://schemas.microsoft.com/office/drawing/2014/main" id="{EA78FDD8-084D-2D41-A37D-7DE0C431B1DA}"/>
              </a:ext>
            </a:extLst>
          </p:cNvPr>
          <p:cNvSpPr txBox="1"/>
          <p:nvPr userDrawn="1"/>
        </p:nvSpPr>
        <p:spPr>
          <a:xfrm>
            <a:off x="766762" y="1608421"/>
            <a:ext cx="7987939" cy="2492990"/>
          </a:xfrm>
          <a:prstGeom prst="rect">
            <a:avLst/>
          </a:prstGeom>
          <a:noFill/>
        </p:spPr>
        <p:txBody>
          <a:bodyPr wrap="square" lIns="0" tIns="0" rIns="0" bIns="0" rtlCol="0">
            <a:spAutoFit/>
          </a:bodyPr>
          <a:lstStyle/>
          <a:p>
            <a:r>
              <a:rPr lang="en-US" sz="1800" b="0" i="0" u="none" strike="noStrike" kern="1200">
                <a:solidFill>
                  <a:schemeClr val="tx1"/>
                </a:solidFill>
                <a:effectLst/>
                <a:latin typeface="+mn-lt"/>
                <a:ea typeface="+mn-ea"/>
                <a:cs typeface="+mn-cs"/>
              </a:rPr>
              <a:t>As of August 2020, for most presentations, a safe harbor statement is no longer required, and you will not need to use this slide.  </a:t>
            </a:r>
            <a:br>
              <a:rPr lang="en-US" sz="1800" b="0" i="0" u="none" strike="noStrike" kern="1200">
                <a:solidFill>
                  <a:schemeClr val="tx1"/>
                </a:solidFill>
                <a:effectLst/>
                <a:latin typeface="+mn-lt"/>
                <a:ea typeface="+mn-ea"/>
                <a:cs typeface="+mn-cs"/>
              </a:rPr>
            </a:br>
            <a:endParaRPr lang="en-US" sz="1800" b="0" i="0" u="none" strike="noStrike" kern="1200">
              <a:solidFill>
                <a:schemeClr val="tx1"/>
              </a:solidFill>
              <a:effectLst/>
              <a:latin typeface="+mn-lt"/>
              <a:ea typeface="+mn-ea"/>
              <a:cs typeface="+mn-cs"/>
            </a:endParaRPr>
          </a:p>
          <a:p>
            <a:r>
              <a:rPr lang="en-US" sz="1800" b="0" i="0" u="none" strike="noStrike" kern="1200">
                <a:solidFill>
                  <a:schemeClr val="tx1"/>
                </a:solidFill>
                <a:effectLst/>
                <a:latin typeface="+mn-lt"/>
                <a:ea typeface="+mn-ea"/>
                <a:cs typeface="+mn-cs"/>
              </a:rPr>
              <a:t>The forward looking statement safe harbor slide is required ONLY for external presentations that pertain to: product launches, executive presentations and keynotes at major events, and any event attended by financial analysts.</a:t>
            </a:r>
          </a:p>
          <a:p>
            <a:endParaRPr lang="en-US" sz="1800" b="0" i="0" u="none" strike="noStrike" kern="1200">
              <a:solidFill>
                <a:schemeClr val="tx1"/>
              </a:solidFill>
              <a:effectLst/>
              <a:latin typeface="+mn-lt"/>
              <a:ea typeface="+mn-ea"/>
              <a:cs typeface="+mn-cs"/>
            </a:endParaRPr>
          </a:p>
          <a:p>
            <a:r>
              <a:rPr lang="en-US"/>
              <a:t>The notice is available at the </a:t>
            </a:r>
            <a:r>
              <a:rPr lang="en-US" u="sng">
                <a:solidFill>
                  <a:srgbClr val="2C5967"/>
                </a:solidFill>
                <a:hlinkClick r:id="rId2">
                  <a:extLst>
                    <a:ext uri="{A12FA001-AC4F-418D-AE19-62706E023703}">
                      <ahyp:hlinkClr xmlns:ahyp="http://schemas.microsoft.com/office/drawing/2018/hyperlinkcolor" val="tx"/>
                    </a:ext>
                  </a:extLst>
                </a:hlinkClick>
              </a:rPr>
              <a:t>Safe Harbor Confluence Page</a:t>
            </a:r>
            <a:endParaRPr lang="en-US">
              <a:solidFill>
                <a:srgbClr val="2C5967"/>
              </a:solidFill>
            </a:endParaRPr>
          </a:p>
          <a:p>
            <a:r>
              <a:rPr lang="en-US"/>
              <a:t>Contact for Forward Looking Statement: </a:t>
            </a:r>
            <a:r>
              <a:rPr lang="en-US" u="sng">
                <a:solidFill>
                  <a:srgbClr val="2C5967"/>
                </a:solidFill>
                <a:hlinkClick r:id="rId3">
                  <a:extLst>
                    <a:ext uri="{A12FA001-AC4F-418D-AE19-62706E023703}">
                      <ahyp:hlinkClr xmlns:ahyp="http://schemas.microsoft.com/office/drawing/2018/hyperlinkcolor" val="tx"/>
                    </a:ext>
                  </a:extLst>
                </a:hlinkClick>
              </a:rPr>
              <a:t>quietperiod_ww_grp@oracle.com</a:t>
            </a:r>
            <a:endParaRPr lang="en-US">
              <a:solidFill>
                <a:srgbClr val="2C5967"/>
              </a:solidFill>
            </a:endParaRPr>
          </a:p>
        </p:txBody>
      </p:sp>
      <p:pic>
        <p:nvPicPr>
          <p:cNvPr id="10" name="Cloud">
            <a:extLst>
              <a:ext uri="{FF2B5EF4-FFF2-40B4-BE49-F238E27FC236}">
                <a16:creationId xmlns:a16="http://schemas.microsoft.com/office/drawing/2014/main" id="{2FCEE6FC-E7A1-9745-9FBA-161384F6B86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bwMode="invGray">
          <a:xfrm>
            <a:off x="6204017" y="3432466"/>
            <a:ext cx="5987981" cy="2780569"/>
          </a:xfrm>
          <a:prstGeom prst="rect">
            <a:avLst/>
          </a:prstGeom>
        </p:spPr>
      </p:pic>
      <p:sp>
        <p:nvSpPr>
          <p:cNvPr id="2" name="Date Placeholder 1">
            <a:extLst>
              <a:ext uri="{FF2B5EF4-FFF2-40B4-BE49-F238E27FC236}">
                <a16:creationId xmlns:a16="http://schemas.microsoft.com/office/drawing/2014/main" id="{7D96628B-0EF0-416B-9E8E-3931DFCB9120}"/>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72B72738-3834-418C-9636-B18B1A1825FD}"/>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95C840CC-B289-4EEE-9D6C-A6440E6863B5}"/>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2711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hyp="http://schemas.microsoft.com/office/drawing/2018/hyperlinkcolor" xmlns:a16="http://schemas.microsoft.com/office/drawing/2014/main"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ark - Safe Harbor">
    <p:spTree>
      <p:nvGrpSpPr>
        <p:cNvPr id="1" name=""/>
        <p:cNvGrpSpPr/>
        <p:nvPr/>
      </p:nvGrpSpPr>
      <p:grpSpPr>
        <a:xfrm>
          <a:off x="0" y="0"/>
          <a:ext cx="0" cy="0"/>
          <a:chOff x="0" y="0"/>
          <a:chExt cx="0" cy="0"/>
        </a:xfrm>
      </p:grpSpPr>
      <p:pic>
        <p:nvPicPr>
          <p:cNvPr id="11" name="Cloud">
            <a:extLst>
              <a:ext uri="{FF2B5EF4-FFF2-40B4-BE49-F238E27FC236}">
                <a16:creationId xmlns:a16="http://schemas.microsoft.com/office/drawing/2014/main" id="{3BD55515-3A50-4D53-9758-E4F305E6BEB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6204017" y="3432466"/>
            <a:ext cx="5987981" cy="2780570"/>
          </a:xfrm>
          <a:prstGeom prst="rect">
            <a:avLst/>
          </a:prstGeom>
        </p:spPr>
      </p:pic>
      <p:sp>
        <p:nvSpPr>
          <p:cNvPr id="9" name="Title">
            <a:extLst>
              <a:ext uri="{FF2B5EF4-FFF2-40B4-BE49-F238E27FC236}">
                <a16:creationId xmlns:a16="http://schemas.microsoft.com/office/drawing/2014/main" id="{6F52D25E-1040-40B8-8DE7-5AFF601E5501}"/>
              </a:ext>
            </a:extLst>
          </p:cNvPr>
          <p:cNvSpPr txBox="1"/>
          <p:nvPr userDrawn="1"/>
        </p:nvSpPr>
        <p:spPr>
          <a:xfrm>
            <a:off x="766762" y="184150"/>
            <a:ext cx="10671048" cy="822960"/>
          </a:xfrm>
          <a:prstGeom prst="rect">
            <a:avLst/>
          </a:prstGeom>
        </p:spPr>
        <p:txBody>
          <a:bodyPr vert="horz" lIns="0" tIns="0" rIns="0" bIns="0" rtlCol="0" anchor="b">
            <a:noAutofit/>
          </a:bodyPr>
          <a:lstStyle>
            <a:lvl1pPr lvl="0" indent="0">
              <a:lnSpc>
                <a:spcPct val="95000"/>
              </a:lnSpc>
              <a:spcBef>
                <a:spcPts val="1000"/>
              </a:spcBef>
              <a:buFont typeface="Arial" panose="020B0604020202020204" pitchFamily="34" charset="0"/>
              <a:buNone/>
              <a:defRPr sz="2400" b="1" i="0" baseline="0">
                <a:solidFill>
                  <a:schemeClr val="bg1"/>
                </a:solidFill>
                <a:latin typeface="Oracle Sans" panose="020B0503020204020204" pitchFamily="34" charset="0"/>
                <a:cs typeface="Oracle Sans" panose="020B0503020204020204" pitchFamily="34" charset="0"/>
              </a:defRPr>
            </a:lvl1pPr>
          </a:lstStyle>
          <a:p>
            <a:pPr lvl="0"/>
            <a:r>
              <a:rPr lang="en-US" dirty="0">
                <a:solidFill>
                  <a:schemeClr val="tx1"/>
                </a:solidFill>
                <a:latin typeface="+mn-lt"/>
                <a:cs typeface="Arial" panose="020B0604020202020204" pitchFamily="34" charset="0"/>
              </a:rPr>
              <a:t>Safe harbor statement</a:t>
            </a:r>
          </a:p>
        </p:txBody>
      </p:sp>
      <p:sp>
        <p:nvSpPr>
          <p:cNvPr id="2" name="Date Placeholder 1">
            <a:extLst>
              <a:ext uri="{FF2B5EF4-FFF2-40B4-BE49-F238E27FC236}">
                <a16:creationId xmlns:a16="http://schemas.microsoft.com/office/drawing/2014/main" id="{34E5158B-9671-4B44-944A-98679C6CF86D}"/>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10E87A33-7FAE-4B90-BB38-5DBBD051B0DD}"/>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F5441799-4659-4B49-A776-C19D91554F92}"/>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8" name="Text Field">
            <a:extLst>
              <a:ext uri="{FF2B5EF4-FFF2-40B4-BE49-F238E27FC236}">
                <a16:creationId xmlns:a16="http://schemas.microsoft.com/office/drawing/2014/main" id="{CD41643C-378D-6F4E-A789-77549A3D0468}"/>
              </a:ext>
            </a:extLst>
          </p:cNvPr>
          <p:cNvSpPr txBox="1"/>
          <p:nvPr userDrawn="1"/>
        </p:nvSpPr>
        <p:spPr>
          <a:xfrm>
            <a:off x="766762" y="1608421"/>
            <a:ext cx="7987939" cy="2492990"/>
          </a:xfrm>
          <a:prstGeom prst="rect">
            <a:avLst/>
          </a:prstGeom>
          <a:noFill/>
        </p:spPr>
        <p:txBody>
          <a:bodyPr wrap="square" lIns="0" tIns="0" rIns="0" bIns="0" rtlCol="0">
            <a:spAutoFit/>
          </a:bodyPr>
          <a:lstStyle/>
          <a:p>
            <a:r>
              <a:rPr lang="en-US" sz="1800" b="0" i="0" u="none" strike="noStrike" kern="1200">
                <a:solidFill>
                  <a:schemeClr val="tx1"/>
                </a:solidFill>
                <a:effectLst/>
                <a:latin typeface="+mn-lt"/>
                <a:ea typeface="+mn-ea"/>
                <a:cs typeface="+mn-cs"/>
              </a:rPr>
              <a:t>As of August 2020, for most presentations, a safe harbor statement is no longer required, and you will not need to use this slide.  </a:t>
            </a:r>
            <a:br>
              <a:rPr lang="en-US" sz="1800" b="0" i="0" u="none" strike="noStrike" kern="1200">
                <a:solidFill>
                  <a:schemeClr val="tx1"/>
                </a:solidFill>
                <a:effectLst/>
                <a:latin typeface="+mn-lt"/>
                <a:ea typeface="+mn-ea"/>
                <a:cs typeface="+mn-cs"/>
              </a:rPr>
            </a:br>
            <a:endParaRPr lang="en-US" sz="1800" b="0" i="0" u="none" strike="noStrike" kern="1200">
              <a:solidFill>
                <a:schemeClr val="tx1"/>
              </a:solidFill>
              <a:effectLst/>
              <a:latin typeface="+mn-lt"/>
              <a:ea typeface="+mn-ea"/>
              <a:cs typeface="+mn-cs"/>
            </a:endParaRPr>
          </a:p>
          <a:p>
            <a:r>
              <a:rPr lang="en-US" sz="1800" b="0" i="0" u="none" strike="noStrike" kern="1200">
                <a:solidFill>
                  <a:schemeClr val="tx1"/>
                </a:solidFill>
                <a:effectLst/>
                <a:latin typeface="+mn-lt"/>
                <a:ea typeface="+mn-ea"/>
                <a:cs typeface="+mn-cs"/>
              </a:rPr>
              <a:t>The forward looking statement safe harbor slide is required ONLY for external presentations that pertain to: product launches, executive presentations and keynotes at major events, and any event attended by financial analysts.</a:t>
            </a:r>
          </a:p>
          <a:p>
            <a:endParaRPr lang="en-US" sz="1800" b="0" i="0" u="none" strike="noStrike" kern="1200">
              <a:solidFill>
                <a:schemeClr val="tx1"/>
              </a:solidFill>
              <a:effectLst/>
              <a:latin typeface="+mn-lt"/>
              <a:ea typeface="+mn-ea"/>
              <a:cs typeface="+mn-cs"/>
            </a:endParaRPr>
          </a:p>
          <a:p>
            <a:r>
              <a:rPr lang="en-US"/>
              <a:t>The notice is available at the </a:t>
            </a:r>
            <a:r>
              <a:rPr lang="en-US" u="sng">
                <a:solidFill>
                  <a:srgbClr val="FACD62"/>
                </a:solidFill>
                <a:hlinkClick r:id="rId3">
                  <a:extLst>
                    <a:ext uri="{A12FA001-AC4F-418D-AE19-62706E023703}">
                      <ahyp:hlinkClr xmlns:ahyp="http://schemas.microsoft.com/office/drawing/2018/hyperlinkcolor" val="tx"/>
                    </a:ext>
                  </a:extLst>
                </a:hlinkClick>
              </a:rPr>
              <a:t>Safe Harbor Confluence Page</a:t>
            </a:r>
            <a:endParaRPr lang="en-US">
              <a:solidFill>
                <a:srgbClr val="FACD62"/>
              </a:solidFill>
            </a:endParaRPr>
          </a:p>
          <a:p>
            <a:r>
              <a:rPr lang="en-US"/>
              <a:t>Contact for Forward Looking Statement: </a:t>
            </a:r>
            <a:r>
              <a:rPr lang="en-US" u="sng">
                <a:solidFill>
                  <a:srgbClr val="FACD62"/>
                </a:solidFill>
                <a:hlinkClick r:id="rId4">
                  <a:extLst>
                    <a:ext uri="{A12FA001-AC4F-418D-AE19-62706E023703}">
                      <ahyp:hlinkClr xmlns:ahyp="http://schemas.microsoft.com/office/drawing/2018/hyperlinkcolor" val="tx"/>
                    </a:ext>
                  </a:extLst>
                </a:hlinkClick>
              </a:rPr>
              <a:t>quietperiod_ww_grp@oracle.com</a:t>
            </a:r>
            <a:endParaRPr lang="en-US">
              <a:solidFill>
                <a:srgbClr val="FACD62"/>
              </a:solidFill>
            </a:endParaRPr>
          </a:p>
        </p:txBody>
      </p:sp>
    </p:spTree>
    <p:extLst>
      <p:ext uri="{BB962C8B-B14F-4D97-AF65-F5344CB8AC3E}">
        <p14:creationId xmlns:p14="http://schemas.microsoft.com/office/powerpoint/2010/main" val="26371417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Arial" panose="020B0604020202020204" pitchFamily="34" charset="0"/>
                <a:ea typeface="+mn-ea"/>
                <a:cs typeface="Arial" panose="020B0604020202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2360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Arial" panose="020B0604020202020204" pitchFamily="34" charset="0"/>
                <a:ea typeface="+mn-ea"/>
                <a:cs typeface="Arial" panose="020B0604020202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844562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Arial" panose="020B0604020202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2020, Oracle and/or its affiliates  |  Confidential: Internal/Restricted/Highly Restricted</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30963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Arial" panose="020B0604020202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5794343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Arial" panose="020B0604020202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6641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Arial" panose="020B0604020202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303400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Arial" panose="020B0604020202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10136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Arial" panose="020B0604020202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3348160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60757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00175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a:t>Our mission is to help people see data in new ways, discover insights,</a:t>
            </a:r>
            <a:br>
              <a:rPr lang="en-US"/>
            </a:br>
            <a:r>
              <a:rPr lang="en-US"/>
              <a:t>unlock endless possibilities.</a:t>
            </a:r>
          </a:p>
        </p:txBody>
      </p:sp>
    </p:spTree>
    <p:extLst>
      <p:ext uri="{BB962C8B-B14F-4D97-AF65-F5344CB8AC3E}">
        <p14:creationId xmlns:p14="http://schemas.microsoft.com/office/powerpoint/2010/main" val="2235935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11665287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5234931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2565-9D15-494D-8285-99925CA9AE7F}"/>
              </a:ext>
            </a:extLst>
          </p:cNvPr>
          <p:cNvSpPr>
            <a:spLocks noGrp="1"/>
          </p:cNvSpPr>
          <p:nvPr>
            <p:ph type="title"/>
          </p:nvPr>
        </p:nvSpPr>
        <p:spPr/>
        <p:txBody>
          <a:bodyPr/>
          <a:lstStyle/>
          <a:p>
            <a:r>
              <a:rPr lang="en-US" dirty="0"/>
              <a:t>Click to edit Master title style</a:t>
            </a:r>
          </a:p>
        </p:txBody>
      </p:sp>
      <p:sp>
        <p:nvSpPr>
          <p:cNvPr id="3" name="Rectangle 2">
            <a:extLst>
              <a:ext uri="{FF2B5EF4-FFF2-40B4-BE49-F238E27FC236}">
                <a16:creationId xmlns:a16="http://schemas.microsoft.com/office/drawing/2014/main" id="{FFAD3021-E6CB-5B48-A8AE-5AE80FB53614}"/>
              </a:ext>
            </a:extLst>
          </p:cNvPr>
          <p:cNvSpPr/>
          <p:nvPr userDrawn="1"/>
        </p:nvSpPr>
        <p:spPr>
          <a:xfrm>
            <a:off x="626301" y="6237962"/>
            <a:ext cx="1603332" cy="3883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284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Big Statement and Content">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4DF7EE0-D6CF-4C3D-A0D2-443433528985}"/>
              </a:ext>
            </a:extLst>
          </p:cNvPr>
          <p:cNvCxnSpPr/>
          <p:nvPr userDrawn="1"/>
        </p:nvCxnSpPr>
        <p:spPr>
          <a:xfrm>
            <a:off x="859536" y="4979476"/>
            <a:ext cx="649224" cy="0"/>
          </a:xfrm>
          <a:prstGeom prst="line">
            <a:avLst/>
          </a:prstGeom>
          <a:ln w="12700">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10" name="Title 19">
            <a:extLst>
              <a:ext uri="{FF2B5EF4-FFF2-40B4-BE49-F238E27FC236}">
                <a16:creationId xmlns:a16="http://schemas.microsoft.com/office/drawing/2014/main" id="{FBA0AA59-2C44-4895-A8A2-6FF382A585A8}"/>
              </a:ext>
            </a:extLst>
          </p:cNvPr>
          <p:cNvSpPr>
            <a:spLocks noGrp="1"/>
          </p:cNvSpPr>
          <p:nvPr>
            <p:ph type="title" hasCustomPrompt="1"/>
          </p:nvPr>
        </p:nvSpPr>
        <p:spPr>
          <a:xfrm>
            <a:off x="838200" y="1828800"/>
            <a:ext cx="4953000" cy="2932022"/>
          </a:xfrm>
        </p:spPr>
        <p:txBody>
          <a:bodyPr wrap="square" anchor="b">
            <a:noAutofit/>
          </a:bodyPr>
          <a:lstStyle>
            <a:lvl1pPr>
              <a:lnSpc>
                <a:spcPct val="85000"/>
              </a:lnSpc>
              <a:defRPr sz="7200" baseline="0"/>
            </a:lvl1pPr>
          </a:lstStyle>
          <a:p>
            <a:r>
              <a:rPr lang="en-US" dirty="0"/>
              <a:t>Click to Edit Big Statement</a:t>
            </a:r>
          </a:p>
        </p:txBody>
      </p:sp>
      <p:sp>
        <p:nvSpPr>
          <p:cNvPr id="4" name="Content Placeholder 3">
            <a:extLst>
              <a:ext uri="{FF2B5EF4-FFF2-40B4-BE49-F238E27FC236}">
                <a16:creationId xmlns:a16="http://schemas.microsoft.com/office/drawing/2014/main" id="{DFB4327D-2319-4D01-B609-4ECBD648F884}"/>
              </a:ext>
            </a:extLst>
          </p:cNvPr>
          <p:cNvSpPr>
            <a:spLocks noGrp="1"/>
          </p:cNvSpPr>
          <p:nvPr>
            <p:ph sz="quarter" idx="11"/>
          </p:nvPr>
        </p:nvSpPr>
        <p:spPr>
          <a:xfrm>
            <a:off x="6400800" y="914400"/>
            <a:ext cx="4953000" cy="5029200"/>
          </a:xfrm>
        </p:spPr>
        <p:txBody>
          <a:bodyPr anchor="ctr"/>
          <a:lstStyle>
            <a:lvl1pPr marL="0" indent="0">
              <a:spcBef>
                <a:spcPts val="1200"/>
              </a:spcBef>
              <a:spcAft>
                <a:spcPts val="0"/>
              </a:spcAft>
              <a:buNone/>
              <a:defRPr sz="1800">
                <a:solidFill>
                  <a:schemeClr val="tx1"/>
                </a:solidFill>
                <a:latin typeface="Visby CF Medium" panose="00000600000000000000" pitchFamily="50" charset="0"/>
              </a:defRPr>
            </a:lvl1pPr>
            <a:lvl2pPr>
              <a:spcBef>
                <a:spcPts val="1200"/>
              </a:spcBef>
              <a:spcAft>
                <a:spcPts val="0"/>
              </a:spcAft>
              <a:buNone/>
              <a:defRPr sz="2000">
                <a:solidFill>
                  <a:srgbClr val="0094B6"/>
                </a:solidFill>
                <a:latin typeface="Visby CF Medium" panose="00000600000000000000" pitchFamily="50" charset="0"/>
              </a:defRPr>
            </a:lvl2pPr>
            <a:lvl3pPr>
              <a:spcBef>
                <a:spcPts val="1200"/>
              </a:spcBef>
              <a:spcAft>
                <a:spcPts val="0"/>
              </a:spcAft>
              <a:buNone/>
              <a:defRPr sz="2000">
                <a:solidFill>
                  <a:srgbClr val="0094B6"/>
                </a:solidFill>
                <a:latin typeface="Visby CF Medium" panose="00000600000000000000" pitchFamily="50" charset="0"/>
              </a:defRPr>
            </a:lvl3pPr>
            <a:lvl4pPr>
              <a:spcBef>
                <a:spcPts val="1200"/>
              </a:spcBef>
              <a:spcAft>
                <a:spcPts val="0"/>
              </a:spcAft>
              <a:buNone/>
              <a:defRPr sz="2000">
                <a:solidFill>
                  <a:srgbClr val="0094B6"/>
                </a:solidFill>
                <a:latin typeface="Visby CF Medium" panose="00000600000000000000" pitchFamily="50" charset="0"/>
              </a:defRPr>
            </a:lvl4pPr>
            <a:lvl5pPr marL="0" indent="0">
              <a:spcBef>
                <a:spcPts val="1200"/>
              </a:spcBef>
              <a:spcAft>
                <a:spcPts val="0"/>
              </a:spcAft>
              <a:buNone/>
              <a:defRPr sz="2000">
                <a:solidFill>
                  <a:srgbClr val="0094B6"/>
                </a:solidFill>
                <a:latin typeface="Visby CF Medium" panose="00000600000000000000" pitchFamily="50" charset="0"/>
              </a:defRPr>
            </a:lvl5pPr>
          </a:lstStyle>
          <a:p>
            <a:pPr lvl="0"/>
            <a:r>
              <a:rPr lang="en-US"/>
              <a:t>Click to edit Master text styles</a:t>
            </a:r>
          </a:p>
        </p:txBody>
      </p:sp>
      <p:sp>
        <p:nvSpPr>
          <p:cNvPr id="9" name="Text Placeholder 11">
            <a:extLst>
              <a:ext uri="{FF2B5EF4-FFF2-40B4-BE49-F238E27FC236}">
                <a16:creationId xmlns:a16="http://schemas.microsoft.com/office/drawing/2014/main" id="{BE826672-5CFA-9240-952B-DE347561D95B}"/>
              </a:ext>
            </a:extLst>
          </p:cNvPr>
          <p:cNvSpPr>
            <a:spLocks noGrp="1"/>
          </p:cNvSpPr>
          <p:nvPr>
            <p:ph type="body" sz="quarter" idx="10" hasCustomPrompt="1"/>
          </p:nvPr>
        </p:nvSpPr>
        <p:spPr>
          <a:xfrm>
            <a:off x="838200" y="457200"/>
            <a:ext cx="4953000" cy="228600"/>
          </a:xfrm>
        </p:spPr>
        <p:txBody>
          <a:bodyPr vert="horz" wrap="none" lIns="0" tIns="0" rIns="0" bIns="0" rtlCol="0" anchor="b">
            <a:noAutofit/>
          </a:bodyPr>
          <a:lstStyle>
            <a:lvl1pPr>
              <a:spcAft>
                <a:spcPts val="0"/>
              </a:spcAft>
              <a:defRPr lang="en-US" sz="1050" cap="all" spc="50">
                <a:solidFill>
                  <a:srgbClr val="505050"/>
                </a:solidFill>
              </a:defRPr>
            </a:lvl1pPr>
          </a:lstStyle>
          <a:p>
            <a:pPr marL="0" lvl="0" indent="0">
              <a:buNone/>
            </a:pPr>
            <a:r>
              <a:rPr lang="en-US"/>
              <a:t>Click to edit EYEBROW</a:t>
            </a:r>
          </a:p>
        </p:txBody>
      </p:sp>
      <p:sp>
        <p:nvSpPr>
          <p:cNvPr id="5" name="Rectangle 4">
            <a:extLst>
              <a:ext uri="{FF2B5EF4-FFF2-40B4-BE49-F238E27FC236}">
                <a16:creationId xmlns:a16="http://schemas.microsoft.com/office/drawing/2014/main" id="{BC7ACE53-E48D-8845-9755-D40AADA3E34D}"/>
              </a:ext>
            </a:extLst>
          </p:cNvPr>
          <p:cNvSpPr/>
          <p:nvPr userDrawn="1"/>
        </p:nvSpPr>
        <p:spPr>
          <a:xfrm>
            <a:off x="1051337" y="6328317"/>
            <a:ext cx="2286000" cy="301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31289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2565-9D15-494D-8285-99925CA9AE7F}"/>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CCAADB73-6263-4AB4-B806-4FCFF5121FC6}"/>
              </a:ext>
            </a:extLst>
          </p:cNvPr>
          <p:cNvSpPr>
            <a:spLocks noGrp="1"/>
          </p:cNvSpPr>
          <p:nvPr>
            <p:ph type="body" sz="quarter" idx="10" hasCustomPrompt="1"/>
          </p:nvPr>
        </p:nvSpPr>
        <p:spPr>
          <a:xfrm>
            <a:off x="838200" y="457200"/>
            <a:ext cx="4953000" cy="228600"/>
          </a:xfrm>
        </p:spPr>
        <p:txBody>
          <a:bodyPr vert="horz" wrap="none" lIns="0" tIns="0" rIns="0" bIns="0" rtlCol="0" anchor="b">
            <a:noAutofit/>
          </a:bodyPr>
          <a:lstStyle>
            <a:lvl1pPr>
              <a:spcAft>
                <a:spcPts val="0"/>
              </a:spcAft>
              <a:defRPr lang="en-US" sz="1050" cap="all" spc="50">
                <a:solidFill>
                  <a:srgbClr val="505050"/>
                </a:solidFill>
              </a:defRPr>
            </a:lvl1pPr>
          </a:lstStyle>
          <a:p>
            <a:pPr marL="0" lvl="0" indent="0">
              <a:buNone/>
            </a:pPr>
            <a:r>
              <a:rPr lang="en-US"/>
              <a:t>Click to edit EYEBROW</a:t>
            </a:r>
          </a:p>
        </p:txBody>
      </p:sp>
    </p:spTree>
    <p:extLst>
      <p:ext uri="{BB962C8B-B14F-4D97-AF65-F5344CB8AC3E}">
        <p14:creationId xmlns:p14="http://schemas.microsoft.com/office/powerpoint/2010/main" val="122325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pic>
        <p:nvPicPr>
          <p:cNvPr id="13" name="Cloud">
            <a:extLst>
              <a:ext uri="{FF2B5EF4-FFF2-40B4-BE49-F238E27FC236}">
                <a16:creationId xmlns:a16="http://schemas.microsoft.com/office/drawing/2014/main" id="{FE6B4D26-B28D-F143-AB35-74E9A9DB01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4" name="OTag">
            <a:extLst>
              <a:ext uri="{FF2B5EF4-FFF2-40B4-BE49-F238E27FC236}">
                <a16:creationId xmlns:a16="http://schemas.microsoft.com/office/drawing/2014/main" id="{6DD64580-DD62-054E-96DA-55452F19016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5" name="Oracle Logo" descr="Oracle Logo">
            <a:extLst>
              <a:ext uri="{FF2B5EF4-FFF2-40B4-BE49-F238E27FC236}">
                <a16:creationId xmlns:a16="http://schemas.microsoft.com/office/drawing/2014/main" id="{9C1F0807-A67A-C44A-BF86-B067E2535CD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16" name="object 9">
            <a:extLst>
              <a:ext uri="{FF2B5EF4-FFF2-40B4-BE49-F238E27FC236}">
                <a16:creationId xmlns:a16="http://schemas.microsoft.com/office/drawing/2014/main" id="{AAAFC58F-7502-F542-9887-F6ADD79D1113}"/>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790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dirty="0"/>
              <a:t>Copyright © 2025, Oracle and/or its affiliates</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E8468362-D9C4-8E49-8FB8-2CCCD8AA97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31475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B6466E8A-99E7-E745-8308-1F55DC43C2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41805835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pic>
        <p:nvPicPr>
          <p:cNvPr id="12" name="Cloud">
            <a:extLst>
              <a:ext uri="{FF2B5EF4-FFF2-40B4-BE49-F238E27FC236}">
                <a16:creationId xmlns:a16="http://schemas.microsoft.com/office/drawing/2014/main" id="{DF827A1F-4143-8349-9B53-F55712E851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3" name="OTag">
            <a:extLst>
              <a:ext uri="{FF2B5EF4-FFF2-40B4-BE49-F238E27FC236}">
                <a16:creationId xmlns:a16="http://schemas.microsoft.com/office/drawing/2014/main" id="{8BB70DDE-E317-EE47-94D8-4FE3376B975E}"/>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6" name="Oracle Logo" descr="Oracle Logo">
            <a:extLst>
              <a:ext uri="{FF2B5EF4-FFF2-40B4-BE49-F238E27FC236}">
                <a16:creationId xmlns:a16="http://schemas.microsoft.com/office/drawing/2014/main" id="{CE86550F-6A5A-184F-9E3E-AA1D593F71B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17" name="object 9">
            <a:extLst>
              <a:ext uri="{FF2B5EF4-FFF2-40B4-BE49-F238E27FC236}">
                <a16:creationId xmlns:a16="http://schemas.microsoft.com/office/drawing/2014/main" id="{F411004C-6F97-1446-8CA0-1E67AC12B100}"/>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4162363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21705F7B-139D-C749-83E7-776A741C81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233924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DDB9576D-07AE-3745-BB81-7943C3E7762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34410424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C6424FC0-98AD-124B-AFBF-F1E4145A38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3" name="Column Divider" descr="Column Divider">
            <a:extLst>
              <a:ext uri="{FF2B5EF4-FFF2-40B4-BE49-F238E27FC236}">
                <a16:creationId xmlns:a16="http://schemas.microsoft.com/office/drawing/2014/main" id="{79CE13F9-41B6-564C-936F-FC5CBBFB64A3}"/>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pic>
        <p:nvPicPr>
          <p:cNvPr id="14" name="OTag">
            <a:extLst>
              <a:ext uri="{FF2B5EF4-FFF2-40B4-BE49-F238E27FC236}">
                <a16:creationId xmlns:a16="http://schemas.microsoft.com/office/drawing/2014/main" id="{6DC39850-2AC9-B14E-84A1-07969DE02FD4}"/>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0152010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E8E9DD35-D7A2-054C-A978-08FBCD2F72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2" name="Column Divider" descr="Column Divider">
            <a:extLst>
              <a:ext uri="{FF2B5EF4-FFF2-40B4-BE49-F238E27FC236}">
                <a16:creationId xmlns:a16="http://schemas.microsoft.com/office/drawing/2014/main" id="{7B7E0A9B-6E2E-3C4A-A87A-40BC36FD39A3}"/>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456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4476665A-F3EB-B245-9DF6-A10BC6291EB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3" name="Column Divider" descr="Column Divider">
            <a:extLst>
              <a:ext uri="{FF2B5EF4-FFF2-40B4-BE49-F238E27FC236}">
                <a16:creationId xmlns:a16="http://schemas.microsoft.com/office/drawing/2014/main" id="{1524F61A-4602-EF4F-BB16-FE6E313A8166}"/>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83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0DBD6C17-F8B2-564E-A715-3C8F171412B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3" name="Column Divider" descr="Column Divider">
            <a:extLst>
              <a:ext uri="{FF2B5EF4-FFF2-40B4-BE49-F238E27FC236}">
                <a16:creationId xmlns:a16="http://schemas.microsoft.com/office/drawing/2014/main" id="{8EC97EE5-4B07-4942-9842-037004673176}"/>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0830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DF96ABC-B9B9-6940-B1DF-830CEBCDFE3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35CFAD57-49CF-BE42-A557-F8097F52667F}"/>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9" name="Column Divider 2" descr="Column Divider">
            <a:extLst>
              <a:ext uri="{FF2B5EF4-FFF2-40B4-BE49-F238E27FC236}">
                <a16:creationId xmlns:a16="http://schemas.microsoft.com/office/drawing/2014/main" id="{091F830C-3C2F-5245-AE36-5AD7B0726E03}"/>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4304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5" name="Cloud">
            <a:extLst>
              <a:ext uri="{FF2B5EF4-FFF2-40B4-BE49-F238E27FC236}">
                <a16:creationId xmlns:a16="http://schemas.microsoft.com/office/drawing/2014/main" id="{C5EE4FE9-FFD7-0B40-B5AC-DA02AFB842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6" name="Column Divider" descr="Column Divider">
            <a:extLst>
              <a:ext uri="{FF2B5EF4-FFF2-40B4-BE49-F238E27FC236}">
                <a16:creationId xmlns:a16="http://schemas.microsoft.com/office/drawing/2014/main" id="{83A6FF12-31CA-104B-8042-CCA95715553B}"/>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9" name="Column Divider 2" descr="Column Divider">
            <a:extLst>
              <a:ext uri="{FF2B5EF4-FFF2-40B4-BE49-F238E27FC236}">
                <a16:creationId xmlns:a16="http://schemas.microsoft.com/office/drawing/2014/main" id="{44961F8B-0155-3945-9AD0-63F3AEFE35FE}"/>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78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F143B4D-C097-3047-9795-9885DFABDC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BA5C8617-4115-664A-B823-57025E484485}"/>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7" name="Column Divider 2" descr="Column Divider">
            <a:extLst>
              <a:ext uri="{FF2B5EF4-FFF2-40B4-BE49-F238E27FC236}">
                <a16:creationId xmlns:a16="http://schemas.microsoft.com/office/drawing/2014/main" id="{9F2C5C21-1A4B-5740-8184-6F8653B6F054}"/>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14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61C833C-0E65-ED47-A555-651613D8CF1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6" name="Column Divider" descr="Column Divider">
            <a:extLst>
              <a:ext uri="{FF2B5EF4-FFF2-40B4-BE49-F238E27FC236}">
                <a16:creationId xmlns:a16="http://schemas.microsoft.com/office/drawing/2014/main" id="{7CD84C71-EED8-8B44-BD0B-81B9556D01AD}"/>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7" name="Column Divider 2" descr="Column Divider">
            <a:extLst>
              <a:ext uri="{FF2B5EF4-FFF2-40B4-BE49-F238E27FC236}">
                <a16:creationId xmlns:a16="http://schemas.microsoft.com/office/drawing/2014/main" id="{57A153CB-0B20-EE4D-AFD9-FA2967DA5CD0}"/>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5214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4D45B38-837E-AF40-BA13-C241A86DE3F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DADBB75A-17E4-E747-8479-677C40992687}"/>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1" name="Column Divider 2" descr="Column Divider">
            <a:extLst>
              <a:ext uri="{FF2B5EF4-FFF2-40B4-BE49-F238E27FC236}">
                <a16:creationId xmlns:a16="http://schemas.microsoft.com/office/drawing/2014/main" id="{355755FB-86D6-194F-93E0-05FF566181AE}"/>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2F5A3A85-F59B-804F-B2FA-701D392D0DFB}"/>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320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CAD6C25D-430D-4E4B-BD8F-C3CAF01A6A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20" name="Column Divider" descr="Column Divider">
            <a:extLst>
              <a:ext uri="{FF2B5EF4-FFF2-40B4-BE49-F238E27FC236}">
                <a16:creationId xmlns:a16="http://schemas.microsoft.com/office/drawing/2014/main" id="{B95B36F5-D55E-6247-8BB0-D1B0D2E34DBE}"/>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1" name="Column Divider 2" descr="Column Divider">
            <a:extLst>
              <a:ext uri="{FF2B5EF4-FFF2-40B4-BE49-F238E27FC236}">
                <a16:creationId xmlns:a16="http://schemas.microsoft.com/office/drawing/2014/main" id="{1FCA6651-9D46-5D42-BD48-0D0CF21B7755}"/>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DEBF133F-711D-BD45-9AF2-055EA25232EE}"/>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8863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44B571CD-3691-1E48-95E5-5C8E5C92D11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9" name="Column Divider" descr="Column Divider">
            <a:extLst>
              <a:ext uri="{FF2B5EF4-FFF2-40B4-BE49-F238E27FC236}">
                <a16:creationId xmlns:a16="http://schemas.microsoft.com/office/drawing/2014/main" id="{4788DA32-B67D-B542-A8AE-EC9EC418CB1F}"/>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0" name="Column Divider 2" descr="Column Divider">
            <a:extLst>
              <a:ext uri="{FF2B5EF4-FFF2-40B4-BE49-F238E27FC236}">
                <a16:creationId xmlns:a16="http://schemas.microsoft.com/office/drawing/2014/main" id="{92F73263-BD8C-534A-AEBF-8149F1AC6362}"/>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1086813B-128D-4644-889B-95CF400B9E9D}"/>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3779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34F92401-1E21-F54F-AE7C-FF391E5721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9" name="Column Divider" descr="Column Divider">
            <a:extLst>
              <a:ext uri="{FF2B5EF4-FFF2-40B4-BE49-F238E27FC236}">
                <a16:creationId xmlns:a16="http://schemas.microsoft.com/office/drawing/2014/main" id="{AC9007D6-CEA9-C949-AEED-A0E2EA6E3706}"/>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0" name="Column Divider 2" descr="Column Divider">
            <a:extLst>
              <a:ext uri="{FF2B5EF4-FFF2-40B4-BE49-F238E27FC236}">
                <a16:creationId xmlns:a16="http://schemas.microsoft.com/office/drawing/2014/main" id="{C23BF05D-10DE-C348-B66C-FD4AAF046F3E}"/>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D73507A2-E2B4-6E46-83A5-B6E9DE2B02BD}"/>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453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F8231BDC-0407-9649-8B11-FFD26F80426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3342422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E862FECF-C7BB-AF4C-B125-BB787D1154A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31721687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772F0D4A-0316-9445-9195-4A8FDD2CE0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Tree>
    <p:extLst>
      <p:ext uri="{BB962C8B-B14F-4D97-AF65-F5344CB8AC3E}">
        <p14:creationId xmlns:p14="http://schemas.microsoft.com/office/powerpoint/2010/main" val="1571583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834C713D-04D8-7642-AE9C-FFBA6BE303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Tree>
    <p:extLst>
      <p:ext uri="{BB962C8B-B14F-4D97-AF65-F5344CB8AC3E}">
        <p14:creationId xmlns:p14="http://schemas.microsoft.com/office/powerpoint/2010/main" val="270448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Cloud">
            <a:extLst>
              <a:ext uri="{FF2B5EF4-FFF2-40B4-BE49-F238E27FC236}">
                <a16:creationId xmlns:a16="http://schemas.microsoft.com/office/drawing/2014/main" id="{5E5C1AAA-B832-0E44-A51E-31E74C54A7F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Tree>
    <p:extLst>
      <p:ext uri="{BB962C8B-B14F-4D97-AF65-F5344CB8AC3E}">
        <p14:creationId xmlns:p14="http://schemas.microsoft.com/office/powerpoint/2010/main" val="40317312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Cloud">
            <a:extLst>
              <a:ext uri="{FF2B5EF4-FFF2-40B4-BE49-F238E27FC236}">
                <a16:creationId xmlns:a16="http://schemas.microsoft.com/office/drawing/2014/main" id="{20C91565-D4D5-D945-B41F-31CA2160F6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Tree>
    <p:extLst>
      <p:ext uri="{BB962C8B-B14F-4D97-AF65-F5344CB8AC3E}">
        <p14:creationId xmlns:p14="http://schemas.microsoft.com/office/powerpoint/2010/main" val="63419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pic>
        <p:nvPicPr>
          <p:cNvPr id="17" name="Cloud">
            <a:extLst>
              <a:ext uri="{FF2B5EF4-FFF2-40B4-BE49-F238E27FC236}">
                <a16:creationId xmlns:a16="http://schemas.microsoft.com/office/drawing/2014/main" id="{1DB49034-BCDC-364A-B0BF-FE2C43892B0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823592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pic>
        <p:nvPicPr>
          <p:cNvPr id="17" name="Cloud">
            <a:extLst>
              <a:ext uri="{FF2B5EF4-FFF2-40B4-BE49-F238E27FC236}">
                <a16:creationId xmlns:a16="http://schemas.microsoft.com/office/drawing/2014/main" id="{73691905-FB97-4B43-BC0E-366D6AFF251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9315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dirty="0"/>
              <a:t>Copyright © 2025, Oracle and/or its affiliates</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CA0BC95C-4F7C-FA45-967B-A4B47869B9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9" name="OTag">
            <a:extLst>
              <a:ext uri="{FF2B5EF4-FFF2-40B4-BE49-F238E27FC236}">
                <a16:creationId xmlns:a16="http://schemas.microsoft.com/office/drawing/2014/main" id="{525E4D30-48EB-1C45-B059-18100041F5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OTag">
            <a:extLst>
              <a:ext uri="{FF2B5EF4-FFF2-40B4-BE49-F238E27FC236}">
                <a16:creationId xmlns:a16="http://schemas.microsoft.com/office/drawing/2014/main" id="{9FA22510-A765-D348-BBB4-2F477ED2D7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4813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dirty="0"/>
              <a:t>Copyright © 2025, Oracle and/or its affiliates</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OTag">
            <a:extLst>
              <a:ext uri="{FF2B5EF4-FFF2-40B4-BE49-F238E27FC236}">
                <a16:creationId xmlns:a16="http://schemas.microsoft.com/office/drawing/2014/main" id="{16CA7D53-96EE-4042-BFF4-83235D541D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9" name="Cloud">
            <a:extLst>
              <a:ext uri="{FF2B5EF4-FFF2-40B4-BE49-F238E27FC236}">
                <a16:creationId xmlns:a16="http://schemas.microsoft.com/office/drawing/2014/main" id="{FFC119CD-E459-1948-88E5-6536EF7FC6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9202986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2FACE3CE-342E-F64B-8BF6-37A3F0BDCC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398259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9144927D-9B24-9641-B623-25622F2A092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372895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02980A11-04F6-3C4C-AC93-FB72483AB6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411154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C183F722-8DCD-D644-98B3-CD84B67C07D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0436476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8C7D334-3153-634B-9BC1-963E2F1BF1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10" name="OTag">
            <a:extLst>
              <a:ext uri="{FF2B5EF4-FFF2-40B4-BE49-F238E27FC236}">
                <a16:creationId xmlns:a16="http://schemas.microsoft.com/office/drawing/2014/main" id="{26AE3C9B-7648-AC4C-86CE-650D74B03EA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Tree>
    <p:extLst>
      <p:ext uri="{BB962C8B-B14F-4D97-AF65-F5344CB8AC3E}">
        <p14:creationId xmlns:p14="http://schemas.microsoft.com/office/powerpoint/2010/main" val="72135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0" name="Picture 9">
            <a:extLst>
              <a:ext uri="{FF2B5EF4-FFF2-40B4-BE49-F238E27FC236}">
                <a16:creationId xmlns:a16="http://schemas.microsoft.com/office/drawing/2014/main" id="{4492D290-015E-F742-91F6-6DD08E5CCD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1" name="OTag">
            <a:extLst>
              <a:ext uri="{FF2B5EF4-FFF2-40B4-BE49-F238E27FC236}">
                <a16:creationId xmlns:a16="http://schemas.microsoft.com/office/drawing/2014/main" id="{1289093F-80FC-9E44-B7CD-B64D884AA51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9453159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850F5073-5840-8944-A713-B8697C71F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A05645B7-451A-BE4D-B10F-A58DE45DAD3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9053833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0D0B1BD4-89E7-F54F-8A43-855D9FE991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858E957D-38CE-EE4D-8DC1-665AB562D2DD}"/>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226150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2CA85150-CFFA-8347-999F-8AF3466DE3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9" name="OTag">
            <a:extLst>
              <a:ext uri="{FF2B5EF4-FFF2-40B4-BE49-F238E27FC236}">
                <a16:creationId xmlns:a16="http://schemas.microsoft.com/office/drawing/2014/main" id="{3C376AF8-C351-D345-B26E-DCFE76FB9C8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111491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AEFC6D54-C363-E14E-9D62-65D291A216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EFFC46AB-84D1-C941-A284-617CB345331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268634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A1CBD0C9-C991-294A-8072-C95F871A8A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C453B0C0-D634-0747-8348-874DB5D686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880139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8F970E2B-FBDD-D542-8DE9-0556202F1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CD669EC6-4A7B-E946-B425-81D990F3609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0995940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133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160">
          <p15:clr>
            <a:srgbClr val="FBAE40"/>
          </p15:clr>
        </p15:guide>
        <p15:guide id="4" pos="4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415406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BF81CA17-AEAA-704B-89F5-E488C2A5E3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pic>
        <p:nvPicPr>
          <p:cNvPr id="12" name="OTag">
            <a:extLst>
              <a:ext uri="{FF2B5EF4-FFF2-40B4-BE49-F238E27FC236}">
                <a16:creationId xmlns:a16="http://schemas.microsoft.com/office/drawing/2014/main" id="{77609CF6-E36C-5445-BE06-DAB7C05C8068}"/>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9901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BE032043-EC54-4344-971C-17F4354CA13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pic>
        <p:nvPicPr>
          <p:cNvPr id="12" name="OTag">
            <a:extLst>
              <a:ext uri="{FF2B5EF4-FFF2-40B4-BE49-F238E27FC236}">
                <a16:creationId xmlns:a16="http://schemas.microsoft.com/office/drawing/2014/main" id="{DCAEDC5B-A9D0-E948-991D-117F029341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0086601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dirty="0"/>
              <a:t>Copyright © 2025, Oracle and/or its affiliates</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pic>
        <p:nvPicPr>
          <p:cNvPr id="11" name="Data Texture Image">
            <a:extLst>
              <a:ext uri="{FF2B5EF4-FFF2-40B4-BE49-F238E27FC236}">
                <a16:creationId xmlns:a16="http://schemas.microsoft.com/office/drawing/2014/main" id="{BE406D1F-1E96-2D48-8B05-0EED650E7A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14" name="OTag">
            <a:extLst>
              <a:ext uri="{FF2B5EF4-FFF2-40B4-BE49-F238E27FC236}">
                <a16:creationId xmlns:a16="http://schemas.microsoft.com/office/drawing/2014/main" id="{0859A2BD-7E43-1547-B9F9-3686A87A9B0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2944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pic>
        <p:nvPicPr>
          <p:cNvPr id="11" name="Data Texture Image">
            <a:extLst>
              <a:ext uri="{FF2B5EF4-FFF2-40B4-BE49-F238E27FC236}">
                <a16:creationId xmlns:a16="http://schemas.microsoft.com/office/drawing/2014/main" id="{F5242C20-4A3B-344C-B0B5-5C7FFA9F82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14" name="OTag">
            <a:extLst>
              <a:ext uri="{FF2B5EF4-FFF2-40B4-BE49-F238E27FC236}">
                <a16:creationId xmlns:a16="http://schemas.microsoft.com/office/drawing/2014/main" id="{21AA12E6-1305-9E45-A894-3B1C567DAB3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567164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pic>
        <p:nvPicPr>
          <p:cNvPr id="14" name="OTag">
            <a:extLst>
              <a:ext uri="{FF2B5EF4-FFF2-40B4-BE49-F238E27FC236}">
                <a16:creationId xmlns:a16="http://schemas.microsoft.com/office/drawing/2014/main" id="{9266DBAF-ECB3-3A44-A038-607E28E03F7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6" name="TextBox 15">
            <a:extLst>
              <a:ext uri="{FF2B5EF4-FFF2-40B4-BE49-F238E27FC236}">
                <a16:creationId xmlns:a16="http://schemas.microsoft.com/office/drawing/2014/main" id="{003BB3A8-A6F7-EF4A-9FA4-5641FC90A94D}"/>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Tree>
    <p:extLst>
      <p:ext uri="{BB962C8B-B14F-4D97-AF65-F5344CB8AC3E}">
        <p14:creationId xmlns:p14="http://schemas.microsoft.com/office/powerpoint/2010/main" val="265976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pic>
        <p:nvPicPr>
          <p:cNvPr id="14" name="OTag">
            <a:extLst>
              <a:ext uri="{FF2B5EF4-FFF2-40B4-BE49-F238E27FC236}">
                <a16:creationId xmlns:a16="http://schemas.microsoft.com/office/drawing/2014/main" id="{F9485F82-3722-ED45-8B2B-54BB2DCF9B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285518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5" name="Oracle Logo" descr="Oracle Logo">
            <a:extLst>
              <a:ext uri="{FF2B5EF4-FFF2-40B4-BE49-F238E27FC236}">
                <a16:creationId xmlns:a16="http://schemas.microsoft.com/office/drawing/2014/main" id="{0587A2E3-CA99-5843-8CEB-3A5EC6433EB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6" name="OTag">
            <a:extLst>
              <a:ext uri="{FF2B5EF4-FFF2-40B4-BE49-F238E27FC236}">
                <a16:creationId xmlns:a16="http://schemas.microsoft.com/office/drawing/2014/main" id="{BD445849-52DA-A94A-A762-53147761CD3C}"/>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535957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5" name="Oracle Logo" descr="Oracle Logo">
            <a:extLst>
              <a:ext uri="{FF2B5EF4-FFF2-40B4-BE49-F238E27FC236}">
                <a16:creationId xmlns:a16="http://schemas.microsoft.com/office/drawing/2014/main" id="{45960623-7990-6E4F-AF4C-894FB93F19F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6" name="OTag">
            <a:extLst>
              <a:ext uri="{FF2B5EF4-FFF2-40B4-BE49-F238E27FC236}">
                <a16:creationId xmlns:a16="http://schemas.microsoft.com/office/drawing/2014/main" id="{6F89F607-C917-6540-8823-5B2A1D62338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957999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cSld name="Brand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Brand (up to 2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514C4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DF7D2267-8060-4E47-941D-1C718175FB56}"/>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
        <p:nvSpPr>
          <p:cNvPr id="5" name="Date Placeholder 4">
            <a:extLst>
              <a:ext uri="{FF2B5EF4-FFF2-40B4-BE49-F238E27FC236}">
                <a16:creationId xmlns:a16="http://schemas.microsoft.com/office/drawing/2014/main" id="{9089584B-D48B-42DB-A58B-544C997E63CE}"/>
              </a:ext>
            </a:extLst>
          </p:cNvPr>
          <p:cNvSpPr>
            <a:spLocks noGrp="1"/>
          </p:cNvSpPr>
          <p:nvPr>
            <p:ph type="dt" sz="half" idx="36"/>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8522066-27D4-4B40-9794-1047C9932F4F}"/>
              </a:ext>
            </a:extLst>
          </p:cNvPr>
          <p:cNvSpPr>
            <a:spLocks noGrp="1"/>
          </p:cNvSpPr>
          <p:nvPr>
            <p:ph type="ftr" sz="quarter" idx="3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95E5E672-3E33-44E2-B5BA-B88BAB86607B}"/>
              </a:ext>
            </a:extLst>
          </p:cNvPr>
          <p:cNvSpPr>
            <a:spLocks noGrp="1"/>
          </p:cNvSpPr>
          <p:nvPr>
            <p:ph type="sldNum" sz="quarter" idx="3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8941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cSld name="Brand Dark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Brand (up to 2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A8A2"/>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A9A65112-7788-4A18-8CF8-4BB5FF137EEB}"/>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258210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cSld name="Finance / Operations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Finance / Operations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31535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5" name="Picture 14">
            <a:extLst>
              <a:ext uri="{FF2B5EF4-FFF2-40B4-BE49-F238E27FC236}">
                <a16:creationId xmlns:a16="http://schemas.microsoft.com/office/drawing/2014/main" id="{7CDDAA99-266A-4A1C-9F57-ACAD7EE3F259}"/>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75571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cSld name="Finance / Operations  Dark - Title">
    <p:bg>
      <p:bgPr>
        <a:solidFill>
          <a:srgbClr val="1E3133"/>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907690B-2C36-41F6-BA70-4C30E0CC8E0E}"/>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Finance / Operations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9B2B0"/>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15396392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cSld name="Cloud Platform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Cloud Platform (up to two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33553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C14DD88A-3D12-4ED2-853D-5FBC3094E39D}"/>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9" name="OTag">
            <a:extLst>
              <a:ext uri="{FF2B5EF4-FFF2-40B4-BE49-F238E27FC236}">
                <a16:creationId xmlns:a16="http://schemas.microsoft.com/office/drawing/2014/main" id="{3B392592-9502-694A-8F41-B22FB2DAD04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64CC5274-9FC3-A64B-A3E3-63C48C3CE4C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pic>
        <p:nvPicPr>
          <p:cNvPr id="15" name="Picture 14">
            <a:extLst>
              <a:ext uri="{FF2B5EF4-FFF2-40B4-BE49-F238E27FC236}">
                <a16:creationId xmlns:a16="http://schemas.microsoft.com/office/drawing/2014/main" id="{B13126B9-22B7-FF4F-95BB-1D5728BED929}"/>
              </a:ext>
            </a:extLst>
          </p:cNvPr>
          <p:cNvPicPr preferRelativeResize="0">
            <a:picLocks/>
          </p:cNvPicPr>
          <p:nvPr userDrawn="1"/>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935172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cSld name="Cloud Platform Dark - Title">
    <p:bg>
      <p:bgPr>
        <a:solidFill>
          <a:srgbClr val="1E3224"/>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Cloud Platform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6B59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8AE4CB3D-1E02-49F9-B7FB-C156600EE365}"/>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850524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cSld name="HCM/HR Light - 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A7595F8-74F2-499E-B59F-E0985F8614CA}"/>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HCM/HR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6C3F4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54701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cSld name="HCM/HR Dark - Title">
    <p:bg>
      <p:bgPr>
        <a:solidFill>
          <a:srgbClr val="41242B"/>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059DD4A-B84B-416F-AF67-08673792B601}"/>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HCM/HR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CE9BA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2580593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cSld name="Database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Database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64F4F"/>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58E6D7C6-18B9-45E9-BC88-5820977E7B1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50221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cSld name="Database Dark - Title">
    <p:bg>
      <p:bgPr>
        <a:solidFill>
          <a:srgbClr val="2A2F2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Database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99ADAE"/>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9A7B6FC1-B09E-452F-B386-FFE592CD500D}"/>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3316842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cSld name="ACX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Advertising and CX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59456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B63FBFA0-AD13-4C12-A92F-20A558F85DA8}"/>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79456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cSld name="ACX Dark - Title">
    <p:bg>
      <p:bgPr>
        <a:solidFill>
          <a:srgbClr val="36293C"/>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Advertising and CX(up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B7A1C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3CE04FA9-4396-4CBF-B26F-3AB639C77302}"/>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972569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cSld name="Developer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Developer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94D53"/>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E0666896-EE4D-4940-8EEB-A10853BA5730}"/>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9898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cSld name="Developer Dark - Title">
    <p:bg>
      <p:bgPr>
        <a:solidFill>
          <a:srgbClr val="2B2E32"/>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Developer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2AAB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3C5FB07A-CDEE-4CF0-82CE-4F62D716F81F}"/>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4121187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cSld name="SCM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SCM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13F2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BFFCEEBC-8B55-4779-B6F6-7D71BD467A78}"/>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50494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cSld name="SCM Dark - Title">
    <p:bg>
      <p:bgPr>
        <a:solidFill>
          <a:srgbClr val="442616"/>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SCM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D39F5D"/>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9E93E0DD-58FE-417A-9A40-14FC48E050A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5100977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cSld name="GBU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GBU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64C68"/>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00F17678-159B-4E0C-BDC5-8B50F64CAD9B}"/>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75071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cSld name="GBU Dark - Title">
    <p:bg>
      <p:bgPr>
        <a:solidFill>
          <a:srgbClr val="2A2D3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GBU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0A9C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75822B96-005B-4C26-BEF1-04D2DE45B6A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867950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cSld name="Netsuite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NetSuite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baseline="0">
                <a:solidFill>
                  <a:srgbClr val="2C526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746B977C-A1F3-4584-90B9-75B6D9E246A9}"/>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54286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cSld name="Netsuite Dark - Title">
    <p:bg>
      <p:bgPr>
        <a:solidFill>
          <a:srgbClr val="1A2F3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NetSuite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1B2C3"/>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27" name="Picture 26">
            <a:extLst>
              <a:ext uri="{FF2B5EF4-FFF2-40B4-BE49-F238E27FC236}">
                <a16:creationId xmlns:a16="http://schemas.microsoft.com/office/drawing/2014/main" id="{C3683683-0F17-A94B-8A8B-9A17453B8495}"/>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4967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10" name="Rectangle 9">
            <a:extLst>
              <a:ext uri="{FF2B5EF4-FFF2-40B4-BE49-F238E27FC236}">
                <a16:creationId xmlns:a16="http://schemas.microsoft.com/office/drawing/2014/main" id="{760C0AE6-8260-254B-AFD0-8B72E864567A}"/>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B3A533B8-9A63-D641-B06D-2C68878FE71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4" name="OTag">
            <a:extLst>
              <a:ext uri="{FF2B5EF4-FFF2-40B4-BE49-F238E27FC236}">
                <a16:creationId xmlns:a16="http://schemas.microsoft.com/office/drawing/2014/main" id="{191D6763-C695-5F49-9768-DBA3B7A0BF9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857556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11" name="Picture 10">
            <a:extLst>
              <a:ext uri="{FF2B5EF4-FFF2-40B4-BE49-F238E27FC236}">
                <a16:creationId xmlns:a16="http://schemas.microsoft.com/office/drawing/2014/main" id="{45E46914-2DDA-7E41-B3B7-2D43D79933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OTag">
            <a:extLst>
              <a:ext uri="{FF2B5EF4-FFF2-40B4-BE49-F238E27FC236}">
                <a16:creationId xmlns:a16="http://schemas.microsoft.com/office/drawing/2014/main" id="{B6F81135-2340-FF4A-8324-3692B836E66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4" name="Rectangle 13">
            <a:extLst>
              <a:ext uri="{FF2B5EF4-FFF2-40B4-BE49-F238E27FC236}">
                <a16:creationId xmlns:a16="http://schemas.microsoft.com/office/drawing/2014/main" id="{79BA2E60-DF34-974D-ACBD-E108284C4767}"/>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95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Light - 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3856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9" Type="http://schemas.openxmlformats.org/officeDocument/2006/relationships/slideLayout" Target="../slideLayouts/slideLayout87.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5" Type="http://schemas.openxmlformats.org/officeDocument/2006/relationships/slideLayout" Target="../slideLayouts/slideLayout63.xml"/><Relationship Id="rId61" Type="http://schemas.openxmlformats.org/officeDocument/2006/relationships/theme" Target="../theme/theme2.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62" Type="http://schemas.openxmlformats.org/officeDocument/2006/relationships/image" Target="../media/image1.emf"/><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slideLayout" Target="../slideLayouts/slideLayout11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44.xml"/><Relationship Id="rId21" Type="http://schemas.openxmlformats.org/officeDocument/2006/relationships/slideLayout" Target="../slideLayouts/slideLayout139.xml"/><Relationship Id="rId42" Type="http://schemas.openxmlformats.org/officeDocument/2006/relationships/slideLayout" Target="../slideLayouts/slideLayout160.xml"/><Relationship Id="rId47" Type="http://schemas.openxmlformats.org/officeDocument/2006/relationships/slideLayout" Target="../slideLayouts/slideLayout165.xml"/><Relationship Id="rId63" Type="http://schemas.openxmlformats.org/officeDocument/2006/relationships/slideLayout" Target="../slideLayouts/slideLayout181.xml"/><Relationship Id="rId68" Type="http://schemas.openxmlformats.org/officeDocument/2006/relationships/slideLayout" Target="../slideLayouts/slideLayout186.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9" Type="http://schemas.openxmlformats.org/officeDocument/2006/relationships/slideLayout" Target="../slideLayouts/slideLayout147.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slideLayout" Target="../slideLayouts/slideLayout150.xml"/><Relationship Id="rId37" Type="http://schemas.openxmlformats.org/officeDocument/2006/relationships/slideLayout" Target="../slideLayouts/slideLayout155.xml"/><Relationship Id="rId40" Type="http://schemas.openxmlformats.org/officeDocument/2006/relationships/slideLayout" Target="../slideLayouts/slideLayout158.xml"/><Relationship Id="rId45" Type="http://schemas.openxmlformats.org/officeDocument/2006/relationships/slideLayout" Target="../slideLayouts/slideLayout163.xml"/><Relationship Id="rId53" Type="http://schemas.openxmlformats.org/officeDocument/2006/relationships/slideLayout" Target="../slideLayouts/slideLayout171.xml"/><Relationship Id="rId58" Type="http://schemas.openxmlformats.org/officeDocument/2006/relationships/slideLayout" Target="../slideLayouts/slideLayout176.xml"/><Relationship Id="rId66" Type="http://schemas.openxmlformats.org/officeDocument/2006/relationships/slideLayout" Target="../slideLayouts/slideLayout184.xml"/><Relationship Id="rId74" Type="http://schemas.openxmlformats.org/officeDocument/2006/relationships/theme" Target="../theme/theme3.xml"/><Relationship Id="rId5" Type="http://schemas.openxmlformats.org/officeDocument/2006/relationships/slideLayout" Target="../slideLayouts/slideLayout123.xml"/><Relationship Id="rId61" Type="http://schemas.openxmlformats.org/officeDocument/2006/relationships/slideLayout" Target="../slideLayouts/slideLayout179.xml"/><Relationship Id="rId19" Type="http://schemas.openxmlformats.org/officeDocument/2006/relationships/slideLayout" Target="../slideLayouts/slideLayout13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slideLayout" Target="../slideLayouts/slideLayout148.xml"/><Relationship Id="rId35" Type="http://schemas.openxmlformats.org/officeDocument/2006/relationships/slideLayout" Target="../slideLayouts/slideLayout153.xml"/><Relationship Id="rId43" Type="http://schemas.openxmlformats.org/officeDocument/2006/relationships/slideLayout" Target="../slideLayouts/slideLayout161.xml"/><Relationship Id="rId48" Type="http://schemas.openxmlformats.org/officeDocument/2006/relationships/slideLayout" Target="../slideLayouts/slideLayout166.xml"/><Relationship Id="rId56" Type="http://schemas.openxmlformats.org/officeDocument/2006/relationships/slideLayout" Target="../slideLayouts/slideLayout174.xml"/><Relationship Id="rId64" Type="http://schemas.openxmlformats.org/officeDocument/2006/relationships/slideLayout" Target="../slideLayouts/slideLayout182.xml"/><Relationship Id="rId69" Type="http://schemas.openxmlformats.org/officeDocument/2006/relationships/slideLayout" Target="../slideLayouts/slideLayout187.xml"/><Relationship Id="rId8" Type="http://schemas.openxmlformats.org/officeDocument/2006/relationships/slideLayout" Target="../slideLayouts/slideLayout126.xml"/><Relationship Id="rId51" Type="http://schemas.openxmlformats.org/officeDocument/2006/relationships/slideLayout" Target="../slideLayouts/slideLayout169.xml"/><Relationship Id="rId72" Type="http://schemas.openxmlformats.org/officeDocument/2006/relationships/slideLayout" Target="../slideLayouts/slideLayout190.xml"/><Relationship Id="rId3" Type="http://schemas.openxmlformats.org/officeDocument/2006/relationships/slideLayout" Target="../slideLayouts/slideLayout121.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33" Type="http://schemas.openxmlformats.org/officeDocument/2006/relationships/slideLayout" Target="../slideLayouts/slideLayout151.xml"/><Relationship Id="rId38" Type="http://schemas.openxmlformats.org/officeDocument/2006/relationships/slideLayout" Target="../slideLayouts/slideLayout156.xml"/><Relationship Id="rId46" Type="http://schemas.openxmlformats.org/officeDocument/2006/relationships/slideLayout" Target="../slideLayouts/slideLayout164.xml"/><Relationship Id="rId59" Type="http://schemas.openxmlformats.org/officeDocument/2006/relationships/slideLayout" Target="../slideLayouts/slideLayout177.xml"/><Relationship Id="rId67" Type="http://schemas.openxmlformats.org/officeDocument/2006/relationships/slideLayout" Target="../slideLayouts/slideLayout185.xml"/><Relationship Id="rId20" Type="http://schemas.openxmlformats.org/officeDocument/2006/relationships/slideLayout" Target="../slideLayouts/slideLayout138.xml"/><Relationship Id="rId41" Type="http://schemas.openxmlformats.org/officeDocument/2006/relationships/slideLayout" Target="../slideLayouts/slideLayout159.xml"/><Relationship Id="rId54" Type="http://schemas.openxmlformats.org/officeDocument/2006/relationships/slideLayout" Target="../slideLayouts/slideLayout172.xml"/><Relationship Id="rId62" Type="http://schemas.openxmlformats.org/officeDocument/2006/relationships/slideLayout" Target="../slideLayouts/slideLayout180.xml"/><Relationship Id="rId70" Type="http://schemas.openxmlformats.org/officeDocument/2006/relationships/slideLayout" Target="../slideLayouts/slideLayout188.xml"/><Relationship Id="rId75" Type="http://schemas.openxmlformats.org/officeDocument/2006/relationships/image" Target="../media/image1.emf"/><Relationship Id="rId1" Type="http://schemas.openxmlformats.org/officeDocument/2006/relationships/slideLayout" Target="../slideLayouts/slideLayout119.xml"/><Relationship Id="rId6" Type="http://schemas.openxmlformats.org/officeDocument/2006/relationships/slideLayout" Target="../slideLayouts/slideLayout124.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slideLayout" Target="../slideLayouts/slideLayout146.xml"/><Relationship Id="rId36" Type="http://schemas.openxmlformats.org/officeDocument/2006/relationships/slideLayout" Target="../slideLayouts/slideLayout154.xml"/><Relationship Id="rId49" Type="http://schemas.openxmlformats.org/officeDocument/2006/relationships/slideLayout" Target="../slideLayouts/slideLayout167.xml"/><Relationship Id="rId57" Type="http://schemas.openxmlformats.org/officeDocument/2006/relationships/slideLayout" Target="../slideLayouts/slideLayout175.xml"/><Relationship Id="rId10" Type="http://schemas.openxmlformats.org/officeDocument/2006/relationships/slideLayout" Target="../slideLayouts/slideLayout128.xml"/><Relationship Id="rId31" Type="http://schemas.openxmlformats.org/officeDocument/2006/relationships/slideLayout" Target="../slideLayouts/slideLayout149.xml"/><Relationship Id="rId44" Type="http://schemas.openxmlformats.org/officeDocument/2006/relationships/slideLayout" Target="../slideLayouts/slideLayout162.xml"/><Relationship Id="rId52" Type="http://schemas.openxmlformats.org/officeDocument/2006/relationships/slideLayout" Target="../slideLayouts/slideLayout170.xml"/><Relationship Id="rId60" Type="http://schemas.openxmlformats.org/officeDocument/2006/relationships/slideLayout" Target="../slideLayouts/slideLayout178.xml"/><Relationship Id="rId65" Type="http://schemas.openxmlformats.org/officeDocument/2006/relationships/slideLayout" Target="../slideLayouts/slideLayout183.xml"/><Relationship Id="rId73" Type="http://schemas.openxmlformats.org/officeDocument/2006/relationships/slideLayout" Target="../slideLayouts/slideLayout191.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9" Type="http://schemas.openxmlformats.org/officeDocument/2006/relationships/slideLayout" Target="../slideLayouts/slideLayout157.xml"/><Relationship Id="rId34" Type="http://schemas.openxmlformats.org/officeDocument/2006/relationships/slideLayout" Target="../slideLayouts/slideLayout152.xml"/><Relationship Id="rId50" Type="http://schemas.openxmlformats.org/officeDocument/2006/relationships/slideLayout" Target="../slideLayouts/slideLayout168.xml"/><Relationship Id="rId55" Type="http://schemas.openxmlformats.org/officeDocument/2006/relationships/slideLayout" Target="../slideLayouts/slideLayout173.xml"/><Relationship Id="rId7" Type="http://schemas.openxmlformats.org/officeDocument/2006/relationships/slideLayout" Target="../slideLayouts/slideLayout125.xml"/><Relationship Id="rId71"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0"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dirty="0"/>
              <a:t>Copyright © 2025,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746" r:id="rId1"/>
    <p:sldLayoutId id="2147483917" r:id="rId2"/>
    <p:sldLayoutId id="2147483928" r:id="rId3"/>
    <p:sldLayoutId id="2147483893" r:id="rId4"/>
    <p:sldLayoutId id="2147483774" r:id="rId5"/>
    <p:sldLayoutId id="2147483919" r:id="rId6"/>
    <p:sldLayoutId id="2147483922" r:id="rId7"/>
    <p:sldLayoutId id="2147483929" r:id="rId8"/>
    <p:sldLayoutId id="2147483920" r:id="rId9"/>
    <p:sldLayoutId id="2147483930" r:id="rId10"/>
    <p:sldLayoutId id="2147483931" r:id="rId11"/>
    <p:sldLayoutId id="2147483932" r:id="rId12"/>
    <p:sldLayoutId id="2147483936" r:id="rId13"/>
    <p:sldLayoutId id="2147483937" r:id="rId14"/>
    <p:sldLayoutId id="2147483933" r:id="rId15"/>
    <p:sldLayoutId id="2147483935" r:id="rId16"/>
    <p:sldLayoutId id="2147483938" r:id="rId17"/>
    <p:sldLayoutId id="2147483939" r:id="rId18"/>
    <p:sldLayoutId id="2147483761" r:id="rId19"/>
    <p:sldLayoutId id="2147483940" r:id="rId20"/>
    <p:sldLayoutId id="2147483969" r:id="rId21"/>
    <p:sldLayoutId id="2147483970" r:id="rId22"/>
    <p:sldLayoutId id="2147483974" r:id="rId23"/>
    <p:sldLayoutId id="2147483975" r:id="rId24"/>
    <p:sldLayoutId id="2147483781" r:id="rId25"/>
    <p:sldLayoutId id="2147483941" r:id="rId26"/>
    <p:sldLayoutId id="2147483756" r:id="rId27"/>
    <p:sldLayoutId id="2147483914" r:id="rId28"/>
    <p:sldLayoutId id="2147483754" r:id="rId29"/>
    <p:sldLayoutId id="2147483915" r:id="rId30"/>
    <p:sldLayoutId id="2147483778" r:id="rId31"/>
    <p:sldLayoutId id="2147483916" r:id="rId32"/>
    <p:sldLayoutId id="2147483762" r:id="rId33"/>
    <p:sldLayoutId id="2147483942" r:id="rId34"/>
    <p:sldLayoutId id="2147483766" r:id="rId35"/>
    <p:sldLayoutId id="2147483894" r:id="rId36"/>
    <p:sldLayoutId id="2147483769" r:id="rId37"/>
    <p:sldLayoutId id="2147483895" r:id="rId38"/>
    <p:sldLayoutId id="2147483768" r:id="rId39"/>
    <p:sldLayoutId id="2147483897" r:id="rId40"/>
    <p:sldLayoutId id="2147483898" r:id="rId41"/>
    <p:sldLayoutId id="2147483905" r:id="rId42"/>
    <p:sldLayoutId id="2147483749" r:id="rId43"/>
    <p:sldLayoutId id="2147483908" r:id="rId44"/>
    <p:sldLayoutId id="2147483751" r:id="rId45"/>
    <p:sldLayoutId id="2147483945" r:id="rId46"/>
    <p:sldLayoutId id="2147483752" r:id="rId47"/>
    <p:sldLayoutId id="2147483912" r:id="rId48"/>
    <p:sldLayoutId id="2147483763" r:id="rId49"/>
    <p:sldLayoutId id="2147483943" r:id="rId50"/>
    <p:sldLayoutId id="2147483744" r:id="rId51"/>
    <p:sldLayoutId id="2147483944" r:id="rId52"/>
    <p:sldLayoutId id="2147483742" r:id="rId53"/>
    <p:sldLayoutId id="2147483972" r:id="rId54"/>
    <p:sldLayoutId id="2147483973" r:id="rId55"/>
    <p:sldLayoutId id="2147484112" r:id="rId56"/>
    <p:sldLayoutId id="2147484118" r:id="rId57"/>
    <p:sldLayoutId id="2147484122" r:id="rId5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F26B43"/>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2020,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p>
        </p:txBody>
      </p:sp>
      <p:sp>
        <p:nvSpPr>
          <p:cNvPr id="8" name="Rectangle 7">
            <a:extLst>
              <a:ext uri="{FF2B5EF4-FFF2-40B4-BE49-F238E27FC236}">
                <a16:creationId xmlns:a16="http://schemas.microsoft.com/office/drawing/2014/main" id="{48926051-BA09-42D6-A922-082E7B442514}"/>
              </a:ext>
            </a:extLst>
          </p:cNvPr>
          <p:cNvSpPr/>
          <p:nvPr userDrawn="1"/>
        </p:nvSpPr>
        <p:spPr>
          <a:xfrm>
            <a:off x="923544" y="12444"/>
            <a:ext cx="792480" cy="9235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CD1791-7989-4E04-A775-D4BA1448FB19}"/>
              </a:ext>
            </a:extLst>
          </p:cNvPr>
          <p:cNvSpPr/>
          <p:nvPr userDrawn="1"/>
        </p:nvSpPr>
        <p:spPr>
          <a:xfrm>
            <a:off x="876300" y="0"/>
            <a:ext cx="552450" cy="1019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3428831"/>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 id="2147483991" r:id="rId15"/>
    <p:sldLayoutId id="2147483992" r:id="rId16"/>
    <p:sldLayoutId id="2147483993" r:id="rId17"/>
    <p:sldLayoutId id="2147483994" r:id="rId18"/>
    <p:sldLayoutId id="2147483995" r:id="rId19"/>
    <p:sldLayoutId id="2147483996" r:id="rId20"/>
    <p:sldLayoutId id="2147483997" r:id="rId21"/>
    <p:sldLayoutId id="2147483998" r:id="rId22"/>
    <p:sldLayoutId id="2147483999" r:id="rId23"/>
    <p:sldLayoutId id="2147484000" r:id="rId24"/>
    <p:sldLayoutId id="2147484001" r:id="rId25"/>
    <p:sldLayoutId id="2147484002" r:id="rId26"/>
    <p:sldLayoutId id="2147484003" r:id="rId27"/>
    <p:sldLayoutId id="2147484004" r:id="rId28"/>
    <p:sldLayoutId id="2147484005" r:id="rId29"/>
    <p:sldLayoutId id="2147484006" r:id="rId30"/>
    <p:sldLayoutId id="2147484007" r:id="rId31"/>
    <p:sldLayoutId id="2147484008" r:id="rId32"/>
    <p:sldLayoutId id="2147484009" r:id="rId33"/>
    <p:sldLayoutId id="2147484010" r:id="rId34"/>
    <p:sldLayoutId id="2147484011" r:id="rId35"/>
    <p:sldLayoutId id="2147484012" r:id="rId36"/>
    <p:sldLayoutId id="2147484013" r:id="rId37"/>
    <p:sldLayoutId id="2147484014" r:id="rId38"/>
    <p:sldLayoutId id="2147484015" r:id="rId39"/>
    <p:sldLayoutId id="2147484016" r:id="rId40"/>
    <p:sldLayoutId id="2147484017" r:id="rId41"/>
    <p:sldLayoutId id="2147484018" r:id="rId42"/>
    <p:sldLayoutId id="2147484019" r:id="rId43"/>
    <p:sldLayoutId id="2147484020" r:id="rId44"/>
    <p:sldLayoutId id="2147484021" r:id="rId45"/>
    <p:sldLayoutId id="2147484022" r:id="rId46"/>
    <p:sldLayoutId id="2147484023" r:id="rId47"/>
    <p:sldLayoutId id="2147484024" r:id="rId48"/>
    <p:sldLayoutId id="2147484025" r:id="rId49"/>
    <p:sldLayoutId id="2147484026" r:id="rId50"/>
    <p:sldLayoutId id="2147484027" r:id="rId51"/>
    <p:sldLayoutId id="2147484028" r:id="rId52"/>
    <p:sldLayoutId id="2147484029" r:id="rId53"/>
    <p:sldLayoutId id="2147484030" r:id="rId54"/>
    <p:sldLayoutId id="2147484031" r:id="rId55"/>
    <p:sldLayoutId id="2147484032" r:id="rId56"/>
    <p:sldLayoutId id="2147484033" r:id="rId57"/>
    <p:sldLayoutId id="2147484035" r:id="rId58"/>
    <p:sldLayoutId id="2147484036" r:id="rId59"/>
    <p:sldLayoutId id="2147484037" r:id="rId60"/>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Arial" panose="020B0604020202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Arial" panose="020B0604020202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Light" panose="020B0403020204020204" pitchFamily="34" charset="0"/>
          <a:ea typeface="+mn-ea"/>
          <a:cs typeface="Oracle Sans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Light" panose="020B0403020204020204" pitchFamily="34" charset="0"/>
          <a:ea typeface="+mn-ea"/>
          <a:cs typeface="Oracle Sans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Light" panose="020B0403020204020204" pitchFamily="34" charset="0"/>
          <a:ea typeface="+mn-ea"/>
          <a:cs typeface="Oracle Sans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p:nvPicPr>
        <p:blipFill>
          <a:blip r:embed="rId75"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dirty="0"/>
              <a:t>Copyright © 2025, Oracle and/or its affiliates</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pic>
        <p:nvPicPr>
          <p:cNvPr id="8" name="OTag">
            <a:extLst>
              <a:ext uri="{FF2B5EF4-FFF2-40B4-BE49-F238E27FC236}">
                <a16:creationId xmlns:a16="http://schemas.microsoft.com/office/drawing/2014/main" id="{E574A628-2D9F-D140-B772-059CEB04D8D8}"/>
              </a:ext>
              <a:ext uri="{C183D7F6-B498-43B3-948B-1728B52AA6E4}">
                <adec:decorative xmlns:adec="http://schemas.microsoft.com/office/drawing/2017/decorative" val="1"/>
              </a:ext>
            </a:extLst>
          </p:cNvPr>
          <p:cNvPicPr>
            <a:picLocks noChangeAspect="1"/>
          </p:cNvPicPr>
          <p:nvPr userDrawn="1"/>
        </p:nvPicPr>
        <p:blipFill>
          <a:blip r:embed="rId75"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498343549"/>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 id="2147484058" r:id="rId20"/>
    <p:sldLayoutId id="2147484059" r:id="rId21"/>
    <p:sldLayoutId id="2147484060" r:id="rId22"/>
    <p:sldLayoutId id="2147484061" r:id="rId23"/>
    <p:sldLayoutId id="2147484062" r:id="rId24"/>
    <p:sldLayoutId id="2147484063" r:id="rId25"/>
    <p:sldLayoutId id="2147484064" r:id="rId26"/>
    <p:sldLayoutId id="2147484065" r:id="rId27"/>
    <p:sldLayoutId id="2147484066" r:id="rId28"/>
    <p:sldLayoutId id="2147484067" r:id="rId29"/>
    <p:sldLayoutId id="2147484068" r:id="rId30"/>
    <p:sldLayoutId id="2147484069" r:id="rId31"/>
    <p:sldLayoutId id="2147484070" r:id="rId32"/>
    <p:sldLayoutId id="2147484071" r:id="rId33"/>
    <p:sldLayoutId id="2147484072" r:id="rId34"/>
    <p:sldLayoutId id="2147484073" r:id="rId35"/>
    <p:sldLayoutId id="2147484074" r:id="rId36"/>
    <p:sldLayoutId id="2147484075" r:id="rId37"/>
    <p:sldLayoutId id="2147484076" r:id="rId38"/>
    <p:sldLayoutId id="2147484077" r:id="rId39"/>
    <p:sldLayoutId id="2147484078" r:id="rId40"/>
    <p:sldLayoutId id="2147484079" r:id="rId41"/>
    <p:sldLayoutId id="2147484080" r:id="rId42"/>
    <p:sldLayoutId id="2147484081" r:id="rId43"/>
    <p:sldLayoutId id="2147484082" r:id="rId44"/>
    <p:sldLayoutId id="2147484083" r:id="rId45"/>
    <p:sldLayoutId id="2147484084" r:id="rId46"/>
    <p:sldLayoutId id="2147484085" r:id="rId47"/>
    <p:sldLayoutId id="2147484086" r:id="rId48"/>
    <p:sldLayoutId id="2147484087" r:id="rId49"/>
    <p:sldLayoutId id="2147484088" r:id="rId50"/>
    <p:sldLayoutId id="2147484089" r:id="rId51"/>
    <p:sldLayoutId id="2147484090" r:id="rId52"/>
    <p:sldLayoutId id="2147484091" r:id="rId53"/>
    <p:sldLayoutId id="2147484092" r:id="rId54"/>
    <p:sldLayoutId id="2147484093" r:id="rId55"/>
    <p:sldLayoutId id="2147484094" r:id="rId56"/>
    <p:sldLayoutId id="2147484095" r:id="rId57"/>
    <p:sldLayoutId id="2147484096" r:id="rId58"/>
    <p:sldLayoutId id="2147484097" r:id="rId59"/>
    <p:sldLayoutId id="2147484098" r:id="rId60"/>
    <p:sldLayoutId id="2147484099" r:id="rId61"/>
    <p:sldLayoutId id="2147484100" r:id="rId62"/>
    <p:sldLayoutId id="2147484101" r:id="rId63"/>
    <p:sldLayoutId id="2147484102" r:id="rId64"/>
    <p:sldLayoutId id="2147484103" r:id="rId65"/>
    <p:sldLayoutId id="2147484104" r:id="rId66"/>
    <p:sldLayoutId id="2147484105" r:id="rId67"/>
    <p:sldLayoutId id="2147484106" r:id="rId68"/>
    <p:sldLayoutId id="2147484107" r:id="rId69"/>
    <p:sldLayoutId id="2147484108" r:id="rId70"/>
    <p:sldLayoutId id="2147484109" r:id="rId71"/>
    <p:sldLayoutId id="2147484110" r:id="rId72"/>
    <p:sldLayoutId id="2147484111" r:id="rId7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1008">
          <p15:clr>
            <a:srgbClr val="F26B43"/>
          </p15:clr>
        </p15:guide>
        <p15:guide id="12" orient="horz" pos="3852">
          <p15:clr>
            <a:srgbClr val="F26B43"/>
          </p15:clr>
        </p15:guide>
        <p15:guide id="13" pos="480">
          <p15:clr>
            <a:srgbClr val="F26B43"/>
          </p15:clr>
        </p15:guide>
        <p15:guide id="14" orient="horz" pos="795">
          <p15:clr>
            <a:srgbClr val="F26B43"/>
          </p15:clr>
        </p15:guide>
        <p15:guide id="15" orient="horz" pos="590">
          <p15:clr>
            <a:srgbClr val="F26B43"/>
          </p15:clr>
        </p15:guide>
        <p15:guide id="16" pos="72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58.xml"/><Relationship Id="rId4" Type="http://schemas.openxmlformats.org/officeDocument/2006/relationships/image" Target="../media/image38.png"/></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5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58.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hyperlink" Target="https://docs.oracle.com/en/solutions/oci-multicloud-api-gateway/index.html" TargetMode="External"/><Relationship Id="rId3" Type="http://schemas.openxmlformats.org/officeDocument/2006/relationships/hyperlink" Target="https://docs.oracle.com/en-us/iaas/Content/APIGateway/home.htm" TargetMode="External"/><Relationship Id="rId7" Type="http://schemas.openxmlformats.org/officeDocument/2006/relationships/hyperlink" Target="https://docs.oracle.com/en-us/iaas/releasenotes/services/api-gateway" TargetMode="External"/><Relationship Id="rId2" Type="http://schemas.openxmlformats.org/officeDocument/2006/relationships/hyperlink" Target="https://docs.oracle.com/en-us/iaas/Content/APIGateway/Concepts/apigatewayoverview.htm" TargetMode="External"/><Relationship Id="rId1" Type="http://schemas.openxmlformats.org/officeDocument/2006/relationships/slideLayout" Target="../slideLayouts/slideLayout2.xml"/><Relationship Id="rId6" Type="http://schemas.openxmlformats.org/officeDocument/2006/relationships/hyperlink" Target="https://docs.oracle.com/en-us/iaas/Content/APIGateway/Tasks/apigatewaylimitingbackendaccess.htm" TargetMode="External"/><Relationship Id="rId11" Type="http://schemas.openxmlformats.org/officeDocument/2006/relationships/image" Target="../media/image38.png"/><Relationship Id="rId5" Type="http://schemas.openxmlformats.org/officeDocument/2006/relationships/hyperlink" Target="https://docs.oracle.com/en-us/iaas/Content/APIGateway/Tasks/apigatewaycreatinggateway.htm" TargetMode="External"/><Relationship Id="rId10" Type="http://schemas.openxmlformats.org/officeDocument/2006/relationships/image" Target="../media/image37.png"/><Relationship Id="rId4" Type="http://schemas.openxmlformats.org/officeDocument/2006/relationships/hyperlink" Target="https://docs.oracle.com/en-us/iaas/Content/APIGateway/Concepts/apigatewayconcepts.htm" TargetMode="External"/><Relationship Id="rId9" Type="http://schemas.openxmlformats.org/officeDocument/2006/relationships/hyperlink" Target="https://docs.oracle.com/en/solutions/deploy-data-rcvy-oci-api-gateway/index.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oracle.com/cloud/cloud-native/api-management/" TargetMode="External"/><Relationship Id="rId2" Type="http://schemas.openxmlformats.org/officeDocument/2006/relationships/notesSlide" Target="../notesSlides/notesSlide8.xml"/><Relationship Id="rId1" Type="http://schemas.openxmlformats.org/officeDocument/2006/relationships/slideLayout" Target="../slideLayouts/slideLayout57.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08EB-1D99-4634-80B7-73BE3C202CBC}"/>
              </a:ext>
            </a:extLst>
          </p:cNvPr>
          <p:cNvSpPr>
            <a:spLocks noGrp="1"/>
          </p:cNvSpPr>
          <p:nvPr>
            <p:ph type="ctrTitle"/>
          </p:nvPr>
        </p:nvSpPr>
        <p:spPr/>
        <p:txBody>
          <a:bodyPr/>
          <a:lstStyle/>
          <a:p>
            <a:r>
              <a:rPr lang="en-US" dirty="0"/>
              <a:t>OCI API Gateway</a:t>
            </a:r>
          </a:p>
        </p:txBody>
      </p:sp>
      <p:sp>
        <p:nvSpPr>
          <p:cNvPr id="3" name="Text Placeholder 2">
            <a:extLst>
              <a:ext uri="{FF2B5EF4-FFF2-40B4-BE49-F238E27FC236}">
                <a16:creationId xmlns:a16="http://schemas.microsoft.com/office/drawing/2014/main" id="{B5A36C32-79E2-4602-953B-6295D44AB632}"/>
              </a:ext>
            </a:extLst>
          </p:cNvPr>
          <p:cNvSpPr>
            <a:spLocks noGrp="1"/>
          </p:cNvSpPr>
          <p:nvPr>
            <p:ph type="body" sz="quarter" idx="33"/>
          </p:nvPr>
        </p:nvSpPr>
        <p:spPr/>
        <p:txBody>
          <a:bodyPr vert="horz" lIns="0" tIns="0" rIns="0" bIns="0" rtlCol="0" anchor="t">
            <a:noAutofit/>
          </a:bodyPr>
          <a:lstStyle/>
          <a:p>
            <a:r>
              <a:rPr lang="en-US" dirty="0">
                <a:cs typeface="Oracle Sans Tab"/>
              </a:rPr>
              <a:t>Recommended Approach &amp; Architecture</a:t>
            </a:r>
          </a:p>
        </p:txBody>
      </p:sp>
      <p:sp>
        <p:nvSpPr>
          <p:cNvPr id="4" name="Text Placeholder 3">
            <a:extLst>
              <a:ext uri="{FF2B5EF4-FFF2-40B4-BE49-F238E27FC236}">
                <a16:creationId xmlns:a16="http://schemas.microsoft.com/office/drawing/2014/main" id="{58002F07-F47E-41EB-939B-67D8313EDF67}"/>
              </a:ext>
            </a:extLst>
          </p:cNvPr>
          <p:cNvSpPr>
            <a:spLocks noGrp="1"/>
          </p:cNvSpPr>
          <p:nvPr>
            <p:ph type="body" sz="quarter" idx="35"/>
          </p:nvPr>
        </p:nvSpPr>
        <p:spPr/>
        <p:txBody>
          <a:bodyPr/>
          <a:lstStyle/>
          <a:p>
            <a:r>
              <a:rPr lang="en-US" dirty="0"/>
              <a:t>Contributors</a:t>
            </a:r>
          </a:p>
        </p:txBody>
      </p:sp>
      <p:sp>
        <p:nvSpPr>
          <p:cNvPr id="5" name="Text Placeholder 4">
            <a:extLst>
              <a:ext uri="{FF2B5EF4-FFF2-40B4-BE49-F238E27FC236}">
                <a16:creationId xmlns:a16="http://schemas.microsoft.com/office/drawing/2014/main" id="{4A5DF299-2024-446B-B0E7-CFF5ACBD7CA1}"/>
              </a:ext>
            </a:extLst>
          </p:cNvPr>
          <p:cNvSpPr>
            <a:spLocks noGrp="1"/>
          </p:cNvSpPr>
          <p:nvPr>
            <p:ph type="body" sz="quarter" idx="34"/>
          </p:nvPr>
        </p:nvSpPr>
        <p:spPr>
          <a:xfrm>
            <a:off x="1018028" y="4883188"/>
            <a:ext cx="10325963" cy="895181"/>
          </a:xfrm>
        </p:spPr>
        <p:txBody>
          <a:bodyPr/>
          <a:lstStyle/>
          <a:p>
            <a:r>
              <a:rPr lang="en-US" dirty="0"/>
              <a:t>Peter Obert  – AI and App Integration, API Mgmt. and Process Automation Black Belt</a:t>
            </a:r>
          </a:p>
          <a:p>
            <a:r>
              <a:rPr lang="en-US" dirty="0"/>
              <a:t>EMEA TE</a:t>
            </a:r>
          </a:p>
          <a:p>
            <a:r>
              <a:rPr lang="en-US" dirty="0"/>
              <a:t>Apr 2026</a:t>
            </a:r>
          </a:p>
        </p:txBody>
      </p:sp>
    </p:spTree>
    <p:extLst>
      <p:ext uri="{BB962C8B-B14F-4D97-AF65-F5344CB8AC3E}">
        <p14:creationId xmlns:p14="http://schemas.microsoft.com/office/powerpoint/2010/main" val="345273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868-2E3B-96EF-C46D-7503A42E78CB}"/>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6114F1C-64BE-8875-7F73-0C5E05B121B0}"/>
              </a:ext>
            </a:extLst>
          </p:cNvPr>
          <p:cNvSpPr>
            <a:spLocks noGrp="1"/>
          </p:cNvSpPr>
          <p:nvPr>
            <p:ph type="sldNum" sz="quarter" idx="12"/>
          </p:nvPr>
        </p:nvSpPr>
        <p:spPr/>
        <p:txBody>
          <a:bodyPr/>
          <a:lstStyle/>
          <a:p>
            <a:fld id="{345D60D9-5372-5F40-9443-0F9AE5BDC3C8}" type="slidenum">
              <a:rPr lang="en-US" smtClean="0"/>
              <a:pPr/>
              <a:t>2</a:t>
            </a:fld>
            <a:endParaRPr lang="en-US" dirty="0"/>
          </a:p>
        </p:txBody>
      </p:sp>
      <p:sp>
        <p:nvSpPr>
          <p:cNvPr id="4" name="Footer Placeholder 3">
            <a:extLst>
              <a:ext uri="{FF2B5EF4-FFF2-40B4-BE49-F238E27FC236}">
                <a16:creationId xmlns:a16="http://schemas.microsoft.com/office/drawing/2014/main" id="{4ED425B0-C051-DDF7-4892-862F30DFA4CC}"/>
              </a:ext>
            </a:extLst>
          </p:cNvPr>
          <p:cNvSpPr>
            <a:spLocks noGrp="1"/>
          </p:cNvSpPr>
          <p:nvPr>
            <p:ph type="ftr" sz="quarter" idx="11"/>
          </p:nvPr>
        </p:nvSpPr>
        <p:spPr/>
        <p:txBody>
          <a:bodyPr/>
          <a:lstStyle/>
          <a:p>
            <a:r>
              <a:rPr lang="en-US" dirty="0"/>
              <a:t>Copyright © 2025, Oracle and/or its affiliates</a:t>
            </a:r>
          </a:p>
        </p:txBody>
      </p:sp>
      <p:sp>
        <p:nvSpPr>
          <p:cNvPr id="5" name="Date Placeholder 4">
            <a:extLst>
              <a:ext uri="{FF2B5EF4-FFF2-40B4-BE49-F238E27FC236}">
                <a16:creationId xmlns:a16="http://schemas.microsoft.com/office/drawing/2014/main" id="{ECD1A6C5-3DBD-6523-7069-94EFFCE40347}"/>
              </a:ext>
            </a:extLst>
          </p:cNvPr>
          <p:cNvSpPr>
            <a:spLocks noGrp="1"/>
          </p:cNvSpPr>
          <p:nvPr>
            <p:ph type="dt" sz="half" idx="10"/>
          </p:nvPr>
        </p:nvSpPr>
        <p:spPr/>
        <p:txBody>
          <a:bodyPr/>
          <a:lstStyle/>
          <a:p>
            <a:r>
              <a:rPr lang="en-US"/>
              <a:t>[Date]</a:t>
            </a:r>
            <a:endParaRPr lang="en-US" dirty="0"/>
          </a:p>
        </p:txBody>
      </p:sp>
    </p:spTree>
    <p:extLst>
      <p:ext uri="{BB962C8B-B14F-4D97-AF65-F5344CB8AC3E}">
        <p14:creationId xmlns:p14="http://schemas.microsoft.com/office/powerpoint/2010/main" val="408206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p15="http://schemas.microsoft.com/office/powerpoint/2012/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04800"/>
            <a:ext cx="10972800" cy="731520"/>
          </a:xfrm>
          <a:prstGeom prst="rect">
            <a:avLst/>
          </a:prstGeom>
          <a:noFill/>
          <a:ln/>
        </p:spPr>
        <p:txBody>
          <a:bodyPr wrap="square" lIns="0" tIns="0" rIns="0" bIns="0" rtlCol="0" anchor="ctr"/>
          <a:lstStyle/>
          <a:p>
            <a:r>
              <a:rPr lang="en-US" sz="4000" b="1" dirty="0">
                <a:solidFill>
                  <a:srgbClr val="1B2A4A"/>
                </a:solidFill>
                <a:latin typeface="Calibri" pitchFamily="34" charset="0"/>
                <a:ea typeface="Calibri" pitchFamily="34" charset="-122"/>
                <a:cs typeface="Calibri" pitchFamily="34" charset="-120"/>
              </a:rPr>
              <a:t>What is OCI API Gateway?</a:t>
            </a:r>
          </a:p>
        </p:txBody>
      </p:sp>
      <p:sp>
        <p:nvSpPr>
          <p:cNvPr id="3" name="Text 1"/>
          <p:cNvSpPr/>
          <p:nvPr/>
        </p:nvSpPr>
        <p:spPr>
          <a:xfrm>
            <a:off x="609600" y="1036320"/>
            <a:ext cx="10972800" cy="426720"/>
          </a:xfrm>
          <a:prstGeom prst="rect">
            <a:avLst/>
          </a:prstGeom>
          <a:noFill/>
          <a:ln/>
        </p:spPr>
        <p:txBody>
          <a:bodyPr wrap="square" lIns="0" tIns="0" rIns="0" bIns="0" rtlCol="0" anchor="ctr"/>
          <a:lstStyle/>
          <a:p>
            <a:r>
              <a:rPr lang="en-US" sz="1867" i="1" dirty="0">
                <a:solidFill>
                  <a:srgbClr val="64748B"/>
                </a:solidFill>
                <a:latin typeface="Calibri" pitchFamily="34" charset="0"/>
                <a:ea typeface="Calibri" pitchFamily="34" charset="-122"/>
                <a:cs typeface="Calibri" pitchFamily="34" charset="-120"/>
              </a:rPr>
              <a:t>OCI API Gateway is a fully managed, serverless service that publishes APIs with private or public endpoints — with zero infrastructure to manage.</a:t>
            </a:r>
          </a:p>
        </p:txBody>
      </p:sp>
      <p:sp>
        <p:nvSpPr>
          <p:cNvPr id="13" name="Shape 3">
            <a:extLst>
              <a:ext uri="{FF2B5EF4-FFF2-40B4-BE49-F238E27FC236}">
                <a16:creationId xmlns:a16="http://schemas.microsoft.com/office/drawing/2014/main" id="{D4A23DD7-A418-D9A7-F427-BB9934DDE22C}"/>
              </a:ext>
            </a:extLst>
          </p:cNvPr>
          <p:cNvSpPr/>
          <p:nvPr/>
        </p:nvSpPr>
        <p:spPr>
          <a:xfrm>
            <a:off x="731519" y="2286000"/>
            <a:ext cx="3346705" cy="30632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14" name="Shape 4">
            <a:extLst>
              <a:ext uri="{FF2B5EF4-FFF2-40B4-BE49-F238E27FC236}">
                <a16:creationId xmlns:a16="http://schemas.microsoft.com/office/drawing/2014/main" id="{92CB65EA-17E8-B5C6-743A-476E106D567B}"/>
              </a:ext>
            </a:extLst>
          </p:cNvPr>
          <p:cNvSpPr/>
          <p:nvPr/>
        </p:nvSpPr>
        <p:spPr>
          <a:xfrm>
            <a:off x="731519" y="2285999"/>
            <a:ext cx="3346705" cy="73518"/>
          </a:xfrm>
          <a:prstGeom prst="rect">
            <a:avLst/>
          </a:prstGeom>
          <a:solidFill>
            <a:srgbClr val="1C7293"/>
          </a:solidFill>
          <a:ln/>
        </p:spPr>
      </p:sp>
      <p:sp>
        <p:nvSpPr>
          <p:cNvPr id="15" name="Text 5">
            <a:extLst>
              <a:ext uri="{FF2B5EF4-FFF2-40B4-BE49-F238E27FC236}">
                <a16:creationId xmlns:a16="http://schemas.microsoft.com/office/drawing/2014/main" id="{99D8FF99-CF22-7A99-66E5-085004932585}"/>
              </a:ext>
            </a:extLst>
          </p:cNvPr>
          <p:cNvSpPr/>
          <p:nvPr/>
        </p:nvSpPr>
        <p:spPr>
          <a:xfrm>
            <a:off x="841248" y="2404872"/>
            <a:ext cx="3069736" cy="514624"/>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Managed Service</a:t>
            </a:r>
            <a:endParaRPr lang="en-US" sz="2400" dirty="0"/>
          </a:p>
        </p:txBody>
      </p:sp>
      <p:sp>
        <p:nvSpPr>
          <p:cNvPr id="16" name="Text 6">
            <a:extLst>
              <a:ext uri="{FF2B5EF4-FFF2-40B4-BE49-F238E27FC236}">
                <a16:creationId xmlns:a16="http://schemas.microsoft.com/office/drawing/2014/main" id="{F3C2EA9A-BFCE-65D6-3907-4E597DFB4DDB}"/>
              </a:ext>
            </a:extLst>
          </p:cNvPr>
          <p:cNvSpPr/>
          <p:nvPr/>
        </p:nvSpPr>
        <p:spPr>
          <a:xfrm>
            <a:off x="841248" y="2862071"/>
            <a:ext cx="3069736" cy="2083003"/>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Fully managed by OCI — no servers to provision, patch, or scale</a:t>
            </a:r>
            <a:endParaRPr lang="en-US" sz="2000" dirty="0"/>
          </a:p>
        </p:txBody>
      </p:sp>
      <p:sp>
        <p:nvSpPr>
          <p:cNvPr id="17" name="Shape 7">
            <a:extLst>
              <a:ext uri="{FF2B5EF4-FFF2-40B4-BE49-F238E27FC236}">
                <a16:creationId xmlns:a16="http://schemas.microsoft.com/office/drawing/2014/main" id="{DDC5BDCE-0FBD-FBF3-E949-5025905D0200}"/>
              </a:ext>
            </a:extLst>
          </p:cNvPr>
          <p:cNvSpPr/>
          <p:nvPr/>
        </p:nvSpPr>
        <p:spPr>
          <a:xfrm>
            <a:off x="4343400" y="2294778"/>
            <a:ext cx="3447288" cy="30632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18" name="Shape 8">
            <a:extLst>
              <a:ext uri="{FF2B5EF4-FFF2-40B4-BE49-F238E27FC236}">
                <a16:creationId xmlns:a16="http://schemas.microsoft.com/office/drawing/2014/main" id="{265A73D5-0C13-414A-1EDA-6BC015F1DB9D}"/>
              </a:ext>
            </a:extLst>
          </p:cNvPr>
          <p:cNvSpPr/>
          <p:nvPr/>
        </p:nvSpPr>
        <p:spPr>
          <a:xfrm>
            <a:off x="4343400" y="2294777"/>
            <a:ext cx="3447288" cy="73517"/>
          </a:xfrm>
          <a:prstGeom prst="rect">
            <a:avLst/>
          </a:prstGeom>
          <a:solidFill>
            <a:srgbClr val="1C7293"/>
          </a:solidFill>
          <a:ln/>
        </p:spPr>
      </p:sp>
      <p:sp>
        <p:nvSpPr>
          <p:cNvPr id="19" name="Text 9">
            <a:extLst>
              <a:ext uri="{FF2B5EF4-FFF2-40B4-BE49-F238E27FC236}">
                <a16:creationId xmlns:a16="http://schemas.microsoft.com/office/drawing/2014/main" id="{8463C323-2470-1D24-909F-578B2BCF6C09}"/>
              </a:ext>
            </a:extLst>
          </p:cNvPr>
          <p:cNvSpPr/>
          <p:nvPr/>
        </p:nvSpPr>
        <p:spPr>
          <a:xfrm>
            <a:off x="4453127" y="2413649"/>
            <a:ext cx="3161995" cy="514624"/>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Serverless</a:t>
            </a:r>
            <a:endParaRPr lang="en-US" sz="2400" dirty="0"/>
          </a:p>
        </p:txBody>
      </p:sp>
      <p:sp>
        <p:nvSpPr>
          <p:cNvPr id="20" name="Text 10">
            <a:extLst>
              <a:ext uri="{FF2B5EF4-FFF2-40B4-BE49-F238E27FC236}">
                <a16:creationId xmlns:a16="http://schemas.microsoft.com/office/drawing/2014/main" id="{F5DEC773-4BEE-29F3-B4E4-664C9157807C}"/>
              </a:ext>
            </a:extLst>
          </p:cNvPr>
          <p:cNvSpPr/>
          <p:nvPr/>
        </p:nvSpPr>
        <p:spPr>
          <a:xfrm>
            <a:off x="4453127" y="2870849"/>
            <a:ext cx="3161995" cy="2083003"/>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Pay per request model with automatic scaling to any traffic volume</a:t>
            </a:r>
            <a:endParaRPr lang="en-US" sz="2000" dirty="0"/>
          </a:p>
        </p:txBody>
      </p:sp>
      <p:sp>
        <p:nvSpPr>
          <p:cNvPr id="21" name="Shape 11">
            <a:extLst>
              <a:ext uri="{FF2B5EF4-FFF2-40B4-BE49-F238E27FC236}">
                <a16:creationId xmlns:a16="http://schemas.microsoft.com/office/drawing/2014/main" id="{978605C3-0893-A78D-B1AC-73D1943423CC}"/>
              </a:ext>
            </a:extLst>
          </p:cNvPr>
          <p:cNvSpPr/>
          <p:nvPr/>
        </p:nvSpPr>
        <p:spPr>
          <a:xfrm>
            <a:off x="8113776" y="2294778"/>
            <a:ext cx="3529584" cy="30632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22" name="Shape 12">
            <a:extLst>
              <a:ext uri="{FF2B5EF4-FFF2-40B4-BE49-F238E27FC236}">
                <a16:creationId xmlns:a16="http://schemas.microsoft.com/office/drawing/2014/main" id="{41FB1367-C4D8-3C00-957E-AA592FF48820}"/>
              </a:ext>
            </a:extLst>
          </p:cNvPr>
          <p:cNvSpPr/>
          <p:nvPr/>
        </p:nvSpPr>
        <p:spPr>
          <a:xfrm>
            <a:off x="8113776" y="2294778"/>
            <a:ext cx="3529584" cy="73518"/>
          </a:xfrm>
          <a:prstGeom prst="rect">
            <a:avLst/>
          </a:prstGeom>
          <a:solidFill>
            <a:srgbClr val="1C7293"/>
          </a:solidFill>
          <a:ln/>
        </p:spPr>
      </p:sp>
      <p:sp>
        <p:nvSpPr>
          <p:cNvPr id="23" name="Text 13">
            <a:extLst>
              <a:ext uri="{FF2B5EF4-FFF2-40B4-BE49-F238E27FC236}">
                <a16:creationId xmlns:a16="http://schemas.microsoft.com/office/drawing/2014/main" id="{3E189EEA-9552-0DCA-A2D1-7511716CD4F3}"/>
              </a:ext>
            </a:extLst>
          </p:cNvPr>
          <p:cNvSpPr/>
          <p:nvPr/>
        </p:nvSpPr>
        <p:spPr>
          <a:xfrm>
            <a:off x="8223503" y="2413650"/>
            <a:ext cx="3237480" cy="514624"/>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Multi-Backend</a:t>
            </a:r>
            <a:endParaRPr lang="en-US" sz="2400" dirty="0"/>
          </a:p>
        </p:txBody>
      </p:sp>
      <p:sp>
        <p:nvSpPr>
          <p:cNvPr id="24" name="Text 14">
            <a:extLst>
              <a:ext uri="{FF2B5EF4-FFF2-40B4-BE49-F238E27FC236}">
                <a16:creationId xmlns:a16="http://schemas.microsoft.com/office/drawing/2014/main" id="{96C9CA41-F13A-13E8-4721-5EC25F21D8DB}"/>
              </a:ext>
            </a:extLst>
          </p:cNvPr>
          <p:cNvSpPr/>
          <p:nvPr/>
        </p:nvSpPr>
        <p:spPr>
          <a:xfrm>
            <a:off x="8223503" y="2870849"/>
            <a:ext cx="3237480" cy="2083003"/>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Route to Functions, Compute, Kubernetes, Object Storage, or HTTP backends</a:t>
            </a:r>
            <a:endParaRPr lang="en-US" sz="2000" dirty="0"/>
          </a:p>
        </p:txBody>
      </p:sp>
      <p:sp>
        <p:nvSpPr>
          <p:cNvPr id="26" name="Text 15">
            <a:extLst>
              <a:ext uri="{FF2B5EF4-FFF2-40B4-BE49-F238E27FC236}">
                <a16:creationId xmlns:a16="http://schemas.microsoft.com/office/drawing/2014/main" id="{0AC71CA3-07E0-B1AC-B92F-1B0BC41E48BB}"/>
              </a:ext>
            </a:extLst>
          </p:cNvPr>
          <p:cNvSpPr/>
          <p:nvPr/>
        </p:nvSpPr>
        <p:spPr>
          <a:xfrm>
            <a:off x="475488" y="5858256"/>
            <a:ext cx="8412480" cy="347472"/>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Primary recommendations for</a:t>
            </a:r>
            <a:r>
              <a:rPr lang="en-US" sz="1100" i="1" dirty="0">
                <a:solidFill>
                  <a:srgbClr val="64748B"/>
                </a:solidFill>
                <a:latin typeface="Calibri" pitchFamily="34" charset="0"/>
                <a:ea typeface="Calibri" pitchFamily="34" charset="-122"/>
                <a:cs typeface="Calibri" pitchFamily="34" charset="-120"/>
              </a:rPr>
              <a:t> </a:t>
            </a:r>
            <a:r>
              <a:rPr lang="en-US" sz="1400" i="1" dirty="0">
                <a:solidFill>
                  <a:srgbClr val="64748B"/>
                </a:solidFill>
                <a:latin typeface="Calibri" pitchFamily="34" charset="0"/>
                <a:ea typeface="Calibri" pitchFamily="34" charset="-122"/>
                <a:cs typeface="Calibri" pitchFamily="34" charset="-120"/>
              </a:rPr>
              <a:t>API</a:t>
            </a:r>
            <a:r>
              <a:rPr lang="en-US" sz="1100" i="1" dirty="0">
                <a:solidFill>
                  <a:srgbClr val="64748B"/>
                </a:solidFill>
                <a:latin typeface="Calibri" pitchFamily="34" charset="0"/>
                <a:ea typeface="Calibri" pitchFamily="34" charset="-122"/>
                <a:cs typeface="Calibri" pitchFamily="34" charset="-120"/>
              </a:rPr>
              <a:t> </a:t>
            </a:r>
            <a:r>
              <a:rPr lang="en-US" sz="1400" i="1" dirty="0">
                <a:solidFill>
                  <a:srgbClr val="64748B"/>
                </a:solidFill>
                <a:latin typeface="Calibri" pitchFamily="34" charset="0"/>
                <a:ea typeface="Calibri" pitchFamily="34" charset="-122"/>
                <a:cs typeface="Calibri" pitchFamily="34" charset="-120"/>
              </a:rPr>
              <a:t>management on OCI</a:t>
            </a:r>
            <a:endParaRPr lang="en-US" sz="1400" dirty="0"/>
          </a:p>
        </p:txBody>
      </p:sp>
      <p:pic>
        <p:nvPicPr>
          <p:cNvPr id="29" name="Picture 28" descr="A white and blue logo&#10;&#10;AI-generated content may be incorrect.">
            <a:extLst>
              <a:ext uri="{FF2B5EF4-FFF2-40B4-BE49-F238E27FC236}">
                <a16:creationId xmlns:a16="http://schemas.microsoft.com/office/drawing/2014/main" id="{0555B75A-995B-ACBC-6EF1-88664A2FF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pic>
        <p:nvPicPr>
          <p:cNvPr id="5122" name="Picture 2" descr="Oracle Joins Continuous Delivery Foundation - CD Foundation">
            <a:extLst>
              <a:ext uri="{FF2B5EF4-FFF2-40B4-BE49-F238E27FC236}">
                <a16:creationId xmlns:a16="http://schemas.microsoft.com/office/drawing/2014/main" id="{73D2B7F1-9225-67D8-95E9-1C08BDA03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3512" y="2788188"/>
            <a:ext cx="1090060" cy="62380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Oracle Joins Continuous Delivery Foundation - CD Foundation">
            <a:extLst>
              <a:ext uri="{FF2B5EF4-FFF2-40B4-BE49-F238E27FC236}">
                <a16:creationId xmlns:a16="http://schemas.microsoft.com/office/drawing/2014/main" id="{73293D16-5B64-28C7-AF74-6FE437B5D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0628" y="2877310"/>
            <a:ext cx="1090060" cy="62380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Oracle Joins Continuous Delivery Foundation - CD Foundation">
            <a:extLst>
              <a:ext uri="{FF2B5EF4-FFF2-40B4-BE49-F238E27FC236}">
                <a16:creationId xmlns:a16="http://schemas.microsoft.com/office/drawing/2014/main" id="{7DDA6946-03F2-B917-A645-9C58AC1C6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3300" y="2898797"/>
            <a:ext cx="1090060" cy="623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21920"/>
            <a:ext cx="11216640" cy="792480"/>
          </a:xfrm>
          <a:prstGeom prst="rect">
            <a:avLst/>
          </a:prstGeom>
          <a:noFill/>
          <a:ln/>
        </p:spPr>
        <p:txBody>
          <a:bodyPr wrap="square" lIns="0" tIns="0" rIns="0" bIns="0" rtlCol="0" anchor="ctr"/>
          <a:lstStyle/>
          <a:p>
            <a:r>
              <a:rPr lang="en-US" sz="3467" b="1" dirty="0">
                <a:latin typeface="Calibri" pitchFamily="34" charset="0"/>
                <a:ea typeface="Calibri" pitchFamily="34" charset="-122"/>
                <a:cs typeface="Calibri" pitchFamily="34" charset="-120"/>
              </a:rPr>
              <a:t>Key Capabilities</a:t>
            </a:r>
            <a:endParaRPr lang="en-US" sz="3467" dirty="0"/>
          </a:p>
        </p:txBody>
      </p:sp>
      <p:sp>
        <p:nvSpPr>
          <p:cNvPr id="4" name="Shape 2"/>
          <p:cNvSpPr/>
          <p:nvPr/>
        </p:nvSpPr>
        <p:spPr>
          <a:xfrm>
            <a:off x="487680" y="1280160"/>
            <a:ext cx="5486400" cy="1524000"/>
          </a:xfrm>
          <a:prstGeom prst="rect">
            <a:avLst/>
          </a:prstGeom>
          <a:solidFill>
            <a:srgbClr val="EEF6FB"/>
          </a:solidFill>
          <a:ln w="12700">
            <a:solidFill>
              <a:srgbClr val="D0E8F5"/>
            </a:solidFill>
            <a:prstDash val="solid"/>
          </a:ln>
        </p:spPr>
      </p:sp>
      <p:sp>
        <p:nvSpPr>
          <p:cNvPr id="5" name="Shape 3"/>
          <p:cNvSpPr/>
          <p:nvPr/>
        </p:nvSpPr>
        <p:spPr>
          <a:xfrm>
            <a:off x="487680" y="1280160"/>
            <a:ext cx="97536" cy="1524000"/>
          </a:xfrm>
          <a:prstGeom prst="rect">
            <a:avLst/>
          </a:prstGeom>
          <a:solidFill>
            <a:srgbClr val="1C7293"/>
          </a:solidFill>
          <a:ln/>
        </p:spPr>
      </p:sp>
      <p:sp>
        <p:nvSpPr>
          <p:cNvPr id="6" name="Text 4"/>
          <p:cNvSpPr/>
          <p:nvPr/>
        </p:nvSpPr>
        <p:spPr>
          <a:xfrm>
            <a:off x="731520" y="1402080"/>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Routing</a:t>
            </a:r>
            <a:endParaRPr lang="en-US" sz="2000" dirty="0"/>
          </a:p>
        </p:txBody>
      </p:sp>
      <p:sp>
        <p:nvSpPr>
          <p:cNvPr id="7" name="Text 5"/>
          <p:cNvSpPr/>
          <p:nvPr/>
        </p:nvSpPr>
        <p:spPr>
          <a:xfrm>
            <a:off x="731520" y="1914144"/>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Route to Functions, HTTP backends, Object Storage, or Stock Responses</a:t>
            </a:r>
            <a:endParaRPr lang="en-US" dirty="0"/>
          </a:p>
        </p:txBody>
      </p:sp>
      <p:sp>
        <p:nvSpPr>
          <p:cNvPr id="8" name="Shape 6"/>
          <p:cNvSpPr/>
          <p:nvPr/>
        </p:nvSpPr>
        <p:spPr>
          <a:xfrm>
            <a:off x="6339840" y="1280160"/>
            <a:ext cx="5486400" cy="1524000"/>
          </a:xfrm>
          <a:prstGeom prst="rect">
            <a:avLst/>
          </a:prstGeom>
          <a:solidFill>
            <a:srgbClr val="EEF6FB"/>
          </a:solidFill>
          <a:ln w="12700">
            <a:solidFill>
              <a:srgbClr val="D0E8F5"/>
            </a:solidFill>
            <a:prstDash val="solid"/>
          </a:ln>
        </p:spPr>
      </p:sp>
      <p:sp>
        <p:nvSpPr>
          <p:cNvPr id="9" name="Shape 7"/>
          <p:cNvSpPr/>
          <p:nvPr/>
        </p:nvSpPr>
        <p:spPr>
          <a:xfrm>
            <a:off x="6339840" y="1280160"/>
            <a:ext cx="97536" cy="1524000"/>
          </a:xfrm>
          <a:prstGeom prst="rect">
            <a:avLst/>
          </a:prstGeom>
          <a:solidFill>
            <a:srgbClr val="1C7293"/>
          </a:solidFill>
          <a:ln/>
        </p:spPr>
      </p:sp>
      <p:sp>
        <p:nvSpPr>
          <p:cNvPr id="10" name="Text 8"/>
          <p:cNvSpPr/>
          <p:nvPr/>
        </p:nvSpPr>
        <p:spPr>
          <a:xfrm>
            <a:off x="6583680" y="1402080"/>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Auth &amp; AuthZ</a:t>
            </a:r>
            <a:endParaRPr lang="en-US" sz="2000" dirty="0"/>
          </a:p>
        </p:txBody>
      </p:sp>
      <p:sp>
        <p:nvSpPr>
          <p:cNvPr id="11" name="Text 9"/>
          <p:cNvSpPr/>
          <p:nvPr/>
        </p:nvSpPr>
        <p:spPr>
          <a:xfrm>
            <a:off x="6583680" y="1914144"/>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JWT validation, custom OCI Function authorizers, OAuth 2.0</a:t>
            </a:r>
            <a:endParaRPr lang="en-US" dirty="0"/>
          </a:p>
        </p:txBody>
      </p:sp>
      <p:sp>
        <p:nvSpPr>
          <p:cNvPr id="12" name="Shape 10"/>
          <p:cNvSpPr/>
          <p:nvPr/>
        </p:nvSpPr>
        <p:spPr>
          <a:xfrm>
            <a:off x="487680" y="3011424"/>
            <a:ext cx="5486400" cy="1524000"/>
          </a:xfrm>
          <a:prstGeom prst="rect">
            <a:avLst/>
          </a:prstGeom>
          <a:solidFill>
            <a:srgbClr val="EEF6FB"/>
          </a:solidFill>
          <a:ln w="12700">
            <a:solidFill>
              <a:srgbClr val="D0E8F5"/>
            </a:solidFill>
            <a:prstDash val="solid"/>
          </a:ln>
        </p:spPr>
      </p:sp>
      <p:sp>
        <p:nvSpPr>
          <p:cNvPr id="13" name="Shape 11"/>
          <p:cNvSpPr/>
          <p:nvPr/>
        </p:nvSpPr>
        <p:spPr>
          <a:xfrm>
            <a:off x="487680" y="3011424"/>
            <a:ext cx="97536" cy="1524000"/>
          </a:xfrm>
          <a:prstGeom prst="rect">
            <a:avLst/>
          </a:prstGeom>
          <a:solidFill>
            <a:srgbClr val="1C7293"/>
          </a:solidFill>
          <a:ln/>
        </p:spPr>
      </p:sp>
      <p:sp>
        <p:nvSpPr>
          <p:cNvPr id="14" name="Text 12"/>
          <p:cNvSpPr/>
          <p:nvPr/>
        </p:nvSpPr>
        <p:spPr>
          <a:xfrm>
            <a:off x="731520" y="3133344"/>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Rate Limiting</a:t>
            </a:r>
            <a:endParaRPr lang="en-US" sz="2000" dirty="0"/>
          </a:p>
        </p:txBody>
      </p:sp>
      <p:sp>
        <p:nvSpPr>
          <p:cNvPr id="15" name="Text 13"/>
          <p:cNvSpPr/>
          <p:nvPr/>
        </p:nvSpPr>
        <p:spPr>
          <a:xfrm>
            <a:off x="731520" y="3645408"/>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Control request rates at deployment or route level</a:t>
            </a:r>
            <a:endParaRPr lang="en-US" dirty="0"/>
          </a:p>
        </p:txBody>
      </p:sp>
      <p:sp>
        <p:nvSpPr>
          <p:cNvPr id="16" name="Shape 14"/>
          <p:cNvSpPr/>
          <p:nvPr/>
        </p:nvSpPr>
        <p:spPr>
          <a:xfrm>
            <a:off x="6339840" y="3011424"/>
            <a:ext cx="5486400" cy="1524000"/>
          </a:xfrm>
          <a:prstGeom prst="rect">
            <a:avLst/>
          </a:prstGeom>
          <a:solidFill>
            <a:srgbClr val="EEF6FB"/>
          </a:solidFill>
          <a:ln w="12700">
            <a:solidFill>
              <a:srgbClr val="D0E8F5"/>
            </a:solidFill>
            <a:prstDash val="solid"/>
          </a:ln>
        </p:spPr>
      </p:sp>
      <p:sp>
        <p:nvSpPr>
          <p:cNvPr id="17" name="Shape 15"/>
          <p:cNvSpPr/>
          <p:nvPr/>
        </p:nvSpPr>
        <p:spPr>
          <a:xfrm>
            <a:off x="6339840" y="3011424"/>
            <a:ext cx="97536" cy="1524000"/>
          </a:xfrm>
          <a:prstGeom prst="rect">
            <a:avLst/>
          </a:prstGeom>
          <a:solidFill>
            <a:srgbClr val="1C7293"/>
          </a:solidFill>
          <a:ln/>
        </p:spPr>
      </p:sp>
      <p:sp>
        <p:nvSpPr>
          <p:cNvPr id="18" name="Text 16"/>
          <p:cNvSpPr/>
          <p:nvPr/>
        </p:nvSpPr>
        <p:spPr>
          <a:xfrm>
            <a:off x="6583680" y="3133344"/>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Request Transform</a:t>
            </a:r>
            <a:endParaRPr lang="en-US" sz="2000" dirty="0"/>
          </a:p>
        </p:txBody>
      </p:sp>
      <p:sp>
        <p:nvSpPr>
          <p:cNvPr id="19" name="Text 17"/>
          <p:cNvSpPr/>
          <p:nvPr/>
        </p:nvSpPr>
        <p:spPr>
          <a:xfrm>
            <a:off x="6583680" y="3645408"/>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Modify headers, query params, and body on the fly</a:t>
            </a:r>
            <a:endParaRPr lang="en-US" dirty="0"/>
          </a:p>
        </p:txBody>
      </p:sp>
      <p:sp>
        <p:nvSpPr>
          <p:cNvPr id="20" name="Shape 18"/>
          <p:cNvSpPr/>
          <p:nvPr/>
        </p:nvSpPr>
        <p:spPr>
          <a:xfrm>
            <a:off x="487680" y="4742688"/>
            <a:ext cx="5486400" cy="1524000"/>
          </a:xfrm>
          <a:prstGeom prst="rect">
            <a:avLst/>
          </a:prstGeom>
          <a:solidFill>
            <a:srgbClr val="EEF6FB"/>
          </a:solidFill>
          <a:ln w="12700">
            <a:solidFill>
              <a:srgbClr val="D0E8F5"/>
            </a:solidFill>
            <a:prstDash val="solid"/>
          </a:ln>
        </p:spPr>
      </p:sp>
      <p:sp>
        <p:nvSpPr>
          <p:cNvPr id="21" name="Shape 19"/>
          <p:cNvSpPr/>
          <p:nvPr/>
        </p:nvSpPr>
        <p:spPr>
          <a:xfrm>
            <a:off x="487680" y="4742688"/>
            <a:ext cx="97536" cy="1524000"/>
          </a:xfrm>
          <a:prstGeom prst="rect">
            <a:avLst/>
          </a:prstGeom>
          <a:solidFill>
            <a:srgbClr val="1C7293"/>
          </a:solidFill>
          <a:ln/>
        </p:spPr>
      </p:sp>
      <p:sp>
        <p:nvSpPr>
          <p:cNvPr id="22" name="Text 20"/>
          <p:cNvSpPr/>
          <p:nvPr/>
        </p:nvSpPr>
        <p:spPr>
          <a:xfrm>
            <a:off x="731520" y="4864608"/>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CORS Support</a:t>
            </a:r>
            <a:endParaRPr lang="en-US" sz="2000" dirty="0"/>
          </a:p>
        </p:txBody>
      </p:sp>
      <p:sp>
        <p:nvSpPr>
          <p:cNvPr id="23" name="Text 21"/>
          <p:cNvSpPr/>
          <p:nvPr/>
        </p:nvSpPr>
        <p:spPr>
          <a:xfrm>
            <a:off x="731520" y="5376672"/>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Built-in Cross-Origin Resource Sharing configuration</a:t>
            </a:r>
            <a:endParaRPr lang="en-US" dirty="0"/>
          </a:p>
        </p:txBody>
      </p:sp>
      <p:sp>
        <p:nvSpPr>
          <p:cNvPr id="24" name="Shape 22"/>
          <p:cNvSpPr/>
          <p:nvPr/>
        </p:nvSpPr>
        <p:spPr>
          <a:xfrm>
            <a:off x="6339840" y="4742688"/>
            <a:ext cx="5486400" cy="1524000"/>
          </a:xfrm>
          <a:prstGeom prst="rect">
            <a:avLst/>
          </a:prstGeom>
          <a:solidFill>
            <a:srgbClr val="EEF6FB"/>
          </a:solidFill>
          <a:ln w="12700">
            <a:solidFill>
              <a:srgbClr val="D0E8F5"/>
            </a:solidFill>
            <a:prstDash val="solid"/>
          </a:ln>
        </p:spPr>
      </p:sp>
      <p:sp>
        <p:nvSpPr>
          <p:cNvPr id="25" name="Shape 23"/>
          <p:cNvSpPr/>
          <p:nvPr/>
        </p:nvSpPr>
        <p:spPr>
          <a:xfrm>
            <a:off x="6339840" y="4742688"/>
            <a:ext cx="97536" cy="1524000"/>
          </a:xfrm>
          <a:prstGeom prst="rect">
            <a:avLst/>
          </a:prstGeom>
          <a:solidFill>
            <a:srgbClr val="1C7293"/>
          </a:solidFill>
          <a:ln/>
        </p:spPr>
      </p:sp>
      <p:sp>
        <p:nvSpPr>
          <p:cNvPr id="26" name="Text 24"/>
          <p:cNvSpPr/>
          <p:nvPr/>
        </p:nvSpPr>
        <p:spPr>
          <a:xfrm>
            <a:off x="6583680" y="4864608"/>
            <a:ext cx="4998720" cy="463296"/>
          </a:xfrm>
          <a:prstGeom prst="rect">
            <a:avLst/>
          </a:prstGeom>
          <a:noFill/>
          <a:ln/>
        </p:spPr>
        <p:txBody>
          <a:bodyPr wrap="square" lIns="0" tIns="0" rIns="0" bIns="0" rtlCol="0" anchor="ctr"/>
          <a:lstStyle/>
          <a:p>
            <a:r>
              <a:rPr lang="en-US" sz="2000" b="1" dirty="0">
                <a:solidFill>
                  <a:srgbClr val="065A82"/>
                </a:solidFill>
                <a:latin typeface="Calibri" pitchFamily="34" charset="0"/>
                <a:ea typeface="Calibri" pitchFamily="34" charset="-122"/>
                <a:cs typeface="Calibri" pitchFamily="34" charset="-120"/>
              </a:rPr>
              <a:t>Observability</a:t>
            </a:r>
            <a:endParaRPr lang="en-US" sz="2000" dirty="0"/>
          </a:p>
        </p:txBody>
      </p:sp>
      <p:sp>
        <p:nvSpPr>
          <p:cNvPr id="27" name="Text 25"/>
          <p:cNvSpPr/>
          <p:nvPr/>
        </p:nvSpPr>
        <p:spPr>
          <a:xfrm>
            <a:off x="6583680" y="5376672"/>
            <a:ext cx="4998720" cy="731520"/>
          </a:xfrm>
          <a:prstGeom prst="rect">
            <a:avLst/>
          </a:prstGeom>
          <a:noFill/>
          <a:ln/>
        </p:spPr>
        <p:txBody>
          <a:bodyPr wrap="square" lIns="0" tIns="0" rIns="0" bIns="0" rtlCol="0" anchor="ctr"/>
          <a:lstStyle/>
          <a:p>
            <a:r>
              <a:rPr lang="en-US" dirty="0">
                <a:solidFill>
                  <a:srgbClr val="1E293B"/>
                </a:solidFill>
                <a:latin typeface="Calibri" pitchFamily="34" charset="0"/>
                <a:ea typeface="Calibri" pitchFamily="34" charset="-122"/>
                <a:cs typeface="Calibri" pitchFamily="34" charset="-120"/>
              </a:rPr>
              <a:t>Native integration with OCI Logging, Metrics &amp; Monitoring</a:t>
            </a:r>
            <a:endParaRPr lang="en-US" dirty="0"/>
          </a:p>
        </p:txBody>
      </p:sp>
      <p:pic>
        <p:nvPicPr>
          <p:cNvPr id="28" name="Picture 27" descr="A white and blue logo&#10;&#10;AI-generated content may be incorrect.">
            <a:extLst>
              <a:ext uri="{FF2B5EF4-FFF2-40B4-BE49-F238E27FC236}">
                <a16:creationId xmlns:a16="http://schemas.microsoft.com/office/drawing/2014/main" id="{2BD26EFF-A666-C8A6-6046-AF9F09F01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21920"/>
            <a:ext cx="11216640" cy="792480"/>
          </a:xfrm>
          <a:prstGeom prst="rect">
            <a:avLst/>
          </a:prstGeom>
          <a:noFill/>
          <a:ln/>
        </p:spPr>
        <p:txBody>
          <a:bodyPr wrap="square" lIns="0" tIns="0" rIns="0" bIns="0" rtlCol="0" anchor="ctr"/>
          <a:lstStyle/>
          <a:p>
            <a:r>
              <a:rPr lang="en-US" sz="3467" b="1" dirty="0">
                <a:latin typeface="Calibri" pitchFamily="34" charset="0"/>
                <a:ea typeface="Calibri" pitchFamily="34" charset="-122"/>
                <a:cs typeface="Calibri" pitchFamily="34" charset="-120"/>
              </a:rPr>
              <a:t>Recommended Architecture Pattern</a:t>
            </a:r>
            <a:endParaRPr lang="en-US" sz="3467" dirty="0"/>
          </a:p>
        </p:txBody>
      </p:sp>
      <p:sp>
        <p:nvSpPr>
          <p:cNvPr id="4" name="Shape 2"/>
          <p:cNvSpPr/>
          <p:nvPr/>
        </p:nvSpPr>
        <p:spPr>
          <a:xfrm>
            <a:off x="365760" y="1213104"/>
            <a:ext cx="2316480" cy="1219200"/>
          </a:xfrm>
          <a:prstGeom prst="rect">
            <a:avLst/>
          </a:prstGeom>
          <a:solidFill>
            <a:srgbClr val="0E3F5E"/>
          </a:solidFill>
          <a:ln w="12700">
            <a:solidFill>
              <a:srgbClr val="1C7293"/>
            </a:solidFill>
            <a:prstDash val="solid"/>
          </a:ln>
        </p:spPr>
      </p:sp>
      <p:sp>
        <p:nvSpPr>
          <p:cNvPr id="5" name="Text 3"/>
          <p:cNvSpPr/>
          <p:nvPr/>
        </p:nvSpPr>
        <p:spPr>
          <a:xfrm>
            <a:off x="365760" y="1335024"/>
            <a:ext cx="2316480" cy="51206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Client</a:t>
            </a:r>
            <a:endParaRPr lang="en-US" sz="1600" dirty="0"/>
          </a:p>
        </p:txBody>
      </p:sp>
      <p:sp>
        <p:nvSpPr>
          <p:cNvPr id="6" name="Text 4"/>
          <p:cNvSpPr/>
          <p:nvPr/>
        </p:nvSpPr>
        <p:spPr>
          <a:xfrm>
            <a:off x="365760" y="1895856"/>
            <a:ext cx="2316480" cy="463296"/>
          </a:xfrm>
          <a:prstGeom prst="rect">
            <a:avLst/>
          </a:prstGeom>
          <a:noFill/>
          <a:ln/>
        </p:spPr>
        <p:txBody>
          <a:bodyPr wrap="square" lIns="0" tIns="0" rIns="0" bIns="0" rtlCol="0" anchor="ctr"/>
          <a:lstStyle/>
          <a:p>
            <a:pPr algn="ctr"/>
            <a:r>
              <a:rPr lang="en-US" sz="1200" dirty="0">
                <a:solidFill>
                  <a:srgbClr val="9ECFEA"/>
                </a:solidFill>
                <a:latin typeface="Calibri" pitchFamily="34" charset="0"/>
                <a:ea typeface="Calibri" pitchFamily="34" charset="-122"/>
                <a:cs typeface="Calibri" pitchFamily="34" charset="-120"/>
              </a:rPr>
              <a:t>Web / Mobile / API Consumer</a:t>
            </a:r>
            <a:endParaRPr lang="en-US" sz="1200" dirty="0"/>
          </a:p>
        </p:txBody>
      </p:sp>
      <p:sp>
        <p:nvSpPr>
          <p:cNvPr id="7" name="Shape 5"/>
          <p:cNvSpPr/>
          <p:nvPr/>
        </p:nvSpPr>
        <p:spPr>
          <a:xfrm>
            <a:off x="2743200" y="1822704"/>
            <a:ext cx="609600" cy="0"/>
          </a:xfrm>
          <a:prstGeom prst="line">
            <a:avLst/>
          </a:prstGeom>
          <a:noFill/>
          <a:ln w="25400">
            <a:solidFill>
              <a:srgbClr val="1C7293"/>
            </a:solidFill>
            <a:prstDash val="solid"/>
          </a:ln>
        </p:spPr>
      </p:sp>
      <p:sp>
        <p:nvSpPr>
          <p:cNvPr id="8" name="Text 6"/>
          <p:cNvSpPr/>
          <p:nvPr/>
        </p:nvSpPr>
        <p:spPr>
          <a:xfrm>
            <a:off x="3011424" y="1639824"/>
            <a:ext cx="304800" cy="365760"/>
          </a:xfrm>
          <a:prstGeom prst="rect">
            <a:avLst/>
          </a:prstGeom>
          <a:noFill/>
          <a:ln/>
        </p:spPr>
        <p:txBody>
          <a:bodyPr wrap="square" lIns="0" tIns="0" rIns="0" bIns="0" rtlCol="0" anchor="ctr"/>
          <a:lstStyle/>
          <a:p>
            <a:r>
              <a:rPr lang="en-US" sz="1333" dirty="0">
                <a:solidFill>
                  <a:srgbClr val="1C7293"/>
                </a:solidFill>
              </a:rPr>
              <a:t>▶</a:t>
            </a:r>
            <a:endParaRPr lang="en-US" sz="1333" dirty="0"/>
          </a:p>
        </p:txBody>
      </p:sp>
      <p:sp>
        <p:nvSpPr>
          <p:cNvPr id="9" name="Shape 7"/>
          <p:cNvSpPr/>
          <p:nvPr/>
        </p:nvSpPr>
        <p:spPr>
          <a:xfrm>
            <a:off x="3413760" y="1213104"/>
            <a:ext cx="2316480" cy="1219200"/>
          </a:xfrm>
          <a:prstGeom prst="rect">
            <a:avLst/>
          </a:prstGeom>
          <a:solidFill>
            <a:srgbClr val="0E3F5E"/>
          </a:solidFill>
          <a:ln w="12700">
            <a:solidFill>
              <a:srgbClr val="1C7293"/>
            </a:solidFill>
            <a:prstDash val="solid"/>
          </a:ln>
        </p:spPr>
      </p:sp>
      <p:sp>
        <p:nvSpPr>
          <p:cNvPr id="10" name="Text 8"/>
          <p:cNvSpPr/>
          <p:nvPr/>
        </p:nvSpPr>
        <p:spPr>
          <a:xfrm>
            <a:off x="3413760" y="1335024"/>
            <a:ext cx="2316480" cy="51206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OCI DNS</a:t>
            </a:r>
            <a:endParaRPr lang="en-US" sz="1600" dirty="0"/>
          </a:p>
        </p:txBody>
      </p:sp>
      <p:sp>
        <p:nvSpPr>
          <p:cNvPr id="11" name="Text 9"/>
          <p:cNvSpPr/>
          <p:nvPr/>
        </p:nvSpPr>
        <p:spPr>
          <a:xfrm>
            <a:off x="3413760" y="1895856"/>
            <a:ext cx="2316480" cy="463296"/>
          </a:xfrm>
          <a:prstGeom prst="rect">
            <a:avLst/>
          </a:prstGeom>
          <a:noFill/>
          <a:ln/>
        </p:spPr>
        <p:txBody>
          <a:bodyPr wrap="square" lIns="0" tIns="0" rIns="0" bIns="0" rtlCol="0" anchor="ctr"/>
          <a:lstStyle/>
          <a:p>
            <a:pPr algn="ctr"/>
            <a:r>
              <a:rPr lang="en-US" sz="1200" dirty="0">
                <a:solidFill>
                  <a:srgbClr val="9ECFEA"/>
                </a:solidFill>
                <a:latin typeface="Calibri" pitchFamily="34" charset="0"/>
                <a:ea typeface="Calibri" pitchFamily="34" charset="-122"/>
                <a:cs typeface="Calibri" pitchFamily="34" charset="-120"/>
              </a:rPr>
              <a:t>Name resolution</a:t>
            </a:r>
            <a:endParaRPr lang="en-US" sz="1200" dirty="0"/>
          </a:p>
        </p:txBody>
      </p:sp>
      <p:sp>
        <p:nvSpPr>
          <p:cNvPr id="12" name="Shape 10"/>
          <p:cNvSpPr/>
          <p:nvPr/>
        </p:nvSpPr>
        <p:spPr>
          <a:xfrm>
            <a:off x="5791200" y="1822704"/>
            <a:ext cx="609600" cy="0"/>
          </a:xfrm>
          <a:prstGeom prst="line">
            <a:avLst/>
          </a:prstGeom>
          <a:noFill/>
          <a:ln w="25400">
            <a:solidFill>
              <a:srgbClr val="1C7293"/>
            </a:solidFill>
            <a:prstDash val="solid"/>
          </a:ln>
        </p:spPr>
      </p:sp>
      <p:sp>
        <p:nvSpPr>
          <p:cNvPr id="13" name="Text 11"/>
          <p:cNvSpPr/>
          <p:nvPr/>
        </p:nvSpPr>
        <p:spPr>
          <a:xfrm>
            <a:off x="6059424" y="1639824"/>
            <a:ext cx="304800" cy="365760"/>
          </a:xfrm>
          <a:prstGeom prst="rect">
            <a:avLst/>
          </a:prstGeom>
          <a:noFill/>
          <a:ln/>
        </p:spPr>
        <p:txBody>
          <a:bodyPr wrap="square" lIns="0" tIns="0" rIns="0" bIns="0" rtlCol="0" anchor="ctr"/>
          <a:lstStyle/>
          <a:p>
            <a:r>
              <a:rPr lang="en-US" sz="1333" dirty="0">
                <a:solidFill>
                  <a:srgbClr val="1C7293"/>
                </a:solidFill>
              </a:rPr>
              <a:t>▶</a:t>
            </a:r>
            <a:endParaRPr lang="en-US" sz="1333" dirty="0"/>
          </a:p>
        </p:txBody>
      </p:sp>
      <p:sp>
        <p:nvSpPr>
          <p:cNvPr id="14" name="Shape 12"/>
          <p:cNvSpPr/>
          <p:nvPr/>
        </p:nvSpPr>
        <p:spPr>
          <a:xfrm>
            <a:off x="6461760" y="1213104"/>
            <a:ext cx="2316480" cy="1219200"/>
          </a:xfrm>
          <a:prstGeom prst="rect">
            <a:avLst/>
          </a:prstGeom>
          <a:solidFill>
            <a:srgbClr val="1C7293"/>
          </a:solidFill>
          <a:ln w="12700">
            <a:solidFill>
              <a:srgbClr val="FFFFFF"/>
            </a:solidFill>
            <a:prstDash val="solid"/>
          </a:ln>
        </p:spPr>
      </p:sp>
      <p:sp>
        <p:nvSpPr>
          <p:cNvPr id="15" name="Text 13"/>
          <p:cNvSpPr/>
          <p:nvPr/>
        </p:nvSpPr>
        <p:spPr>
          <a:xfrm>
            <a:off x="6461760" y="1335024"/>
            <a:ext cx="231648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OCI API Gateway</a:t>
            </a:r>
            <a:endParaRPr lang="en-US" sz="1733" dirty="0"/>
          </a:p>
        </p:txBody>
      </p:sp>
      <p:sp>
        <p:nvSpPr>
          <p:cNvPr id="16" name="Text 14"/>
          <p:cNvSpPr/>
          <p:nvPr/>
        </p:nvSpPr>
        <p:spPr>
          <a:xfrm>
            <a:off x="6461760" y="1895856"/>
            <a:ext cx="2316480" cy="463296"/>
          </a:xfrm>
          <a:prstGeom prst="rect">
            <a:avLst/>
          </a:prstGeom>
          <a:noFill/>
          <a:ln/>
        </p:spPr>
        <p:txBody>
          <a:bodyPr wrap="square" lIns="0" tIns="0" rIns="0" bIns="0" rtlCol="0" anchor="ctr"/>
          <a:lstStyle/>
          <a:p>
            <a:pPr algn="ctr"/>
            <a:r>
              <a:rPr lang="en-US" sz="1200" dirty="0">
                <a:solidFill>
                  <a:srgbClr val="9ECFEA"/>
                </a:solidFill>
                <a:latin typeface="Calibri" pitchFamily="34" charset="0"/>
                <a:ea typeface="Calibri" pitchFamily="34" charset="-122"/>
                <a:cs typeface="Calibri" pitchFamily="34" charset="-120"/>
              </a:rPr>
              <a:t>Routing · Auth · Rate Limit</a:t>
            </a:r>
            <a:endParaRPr lang="en-US" sz="1200" dirty="0"/>
          </a:p>
        </p:txBody>
      </p:sp>
      <p:sp>
        <p:nvSpPr>
          <p:cNvPr id="17" name="Shape 15"/>
          <p:cNvSpPr/>
          <p:nvPr/>
        </p:nvSpPr>
        <p:spPr>
          <a:xfrm>
            <a:off x="8839200" y="1822704"/>
            <a:ext cx="609600" cy="0"/>
          </a:xfrm>
          <a:prstGeom prst="line">
            <a:avLst/>
          </a:prstGeom>
          <a:noFill/>
          <a:ln w="25400">
            <a:solidFill>
              <a:srgbClr val="1C7293"/>
            </a:solidFill>
            <a:prstDash val="solid"/>
          </a:ln>
        </p:spPr>
      </p:sp>
      <p:sp>
        <p:nvSpPr>
          <p:cNvPr id="18" name="Text 16"/>
          <p:cNvSpPr/>
          <p:nvPr/>
        </p:nvSpPr>
        <p:spPr>
          <a:xfrm>
            <a:off x="9107424" y="1639824"/>
            <a:ext cx="304800" cy="365760"/>
          </a:xfrm>
          <a:prstGeom prst="rect">
            <a:avLst/>
          </a:prstGeom>
          <a:noFill/>
          <a:ln/>
        </p:spPr>
        <p:txBody>
          <a:bodyPr wrap="square" lIns="0" tIns="0" rIns="0" bIns="0" rtlCol="0" anchor="ctr"/>
          <a:lstStyle/>
          <a:p>
            <a:r>
              <a:rPr lang="en-US" sz="1333" dirty="0">
                <a:solidFill>
                  <a:srgbClr val="1C7293"/>
                </a:solidFill>
              </a:rPr>
              <a:t>▶</a:t>
            </a:r>
            <a:endParaRPr lang="en-US" sz="1333" dirty="0"/>
          </a:p>
        </p:txBody>
      </p:sp>
      <p:sp>
        <p:nvSpPr>
          <p:cNvPr id="19" name="Shape 17"/>
          <p:cNvSpPr/>
          <p:nvPr/>
        </p:nvSpPr>
        <p:spPr>
          <a:xfrm>
            <a:off x="9509760" y="1213104"/>
            <a:ext cx="2316480" cy="1219200"/>
          </a:xfrm>
          <a:prstGeom prst="rect">
            <a:avLst/>
          </a:prstGeom>
          <a:solidFill>
            <a:srgbClr val="0E3F5E"/>
          </a:solidFill>
          <a:ln w="12700">
            <a:solidFill>
              <a:srgbClr val="1C7293"/>
            </a:solidFill>
            <a:prstDash val="solid"/>
          </a:ln>
        </p:spPr>
      </p:sp>
      <p:sp>
        <p:nvSpPr>
          <p:cNvPr id="20" name="Text 18"/>
          <p:cNvSpPr/>
          <p:nvPr/>
        </p:nvSpPr>
        <p:spPr>
          <a:xfrm>
            <a:off x="9509760" y="1335024"/>
            <a:ext cx="2316480" cy="51206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21" name="Text 19"/>
          <p:cNvSpPr/>
          <p:nvPr/>
        </p:nvSpPr>
        <p:spPr>
          <a:xfrm>
            <a:off x="9509760" y="1895856"/>
            <a:ext cx="2316480" cy="463296"/>
          </a:xfrm>
          <a:prstGeom prst="rect">
            <a:avLst/>
          </a:prstGeom>
          <a:noFill/>
          <a:ln/>
        </p:spPr>
        <p:txBody>
          <a:bodyPr wrap="square" lIns="0" tIns="0" rIns="0" bIns="0" rtlCol="0" anchor="ctr"/>
          <a:lstStyle/>
          <a:p>
            <a:pPr algn="ctr"/>
            <a:r>
              <a:rPr lang="en-US" sz="1200" dirty="0">
                <a:solidFill>
                  <a:srgbClr val="9ECFEA"/>
                </a:solidFill>
                <a:latin typeface="Calibri" pitchFamily="34" charset="0"/>
                <a:ea typeface="Calibri" pitchFamily="34" charset="-122"/>
                <a:cs typeface="Calibri" pitchFamily="34" charset="-120"/>
              </a:rPr>
              <a:t>Functions · Compute · OKE · HTTP</a:t>
            </a:r>
            <a:endParaRPr lang="en-US" sz="1200" dirty="0"/>
          </a:p>
        </p:txBody>
      </p:sp>
      <p:sp>
        <p:nvSpPr>
          <p:cNvPr id="22" name="Shape 20"/>
          <p:cNvSpPr/>
          <p:nvPr/>
        </p:nvSpPr>
        <p:spPr>
          <a:xfrm>
            <a:off x="7620000" y="2432304"/>
            <a:ext cx="0" cy="487680"/>
          </a:xfrm>
          <a:prstGeom prst="line">
            <a:avLst/>
          </a:prstGeom>
          <a:noFill/>
          <a:ln w="12700">
            <a:solidFill>
              <a:srgbClr val="FFFFFF"/>
            </a:solidFill>
            <a:prstDash val="dash"/>
          </a:ln>
        </p:spPr>
      </p:sp>
      <p:sp>
        <p:nvSpPr>
          <p:cNvPr id="23" name="Shape 21"/>
          <p:cNvSpPr/>
          <p:nvPr/>
        </p:nvSpPr>
        <p:spPr>
          <a:xfrm>
            <a:off x="487680" y="3224784"/>
            <a:ext cx="2438400" cy="670560"/>
          </a:xfrm>
          <a:prstGeom prst="rect">
            <a:avLst/>
          </a:prstGeom>
          <a:solidFill>
            <a:srgbClr val="0E3F5E"/>
          </a:solidFill>
          <a:ln w="12700">
            <a:solidFill>
              <a:srgbClr val="1C7293"/>
            </a:solidFill>
            <a:prstDash val="solid"/>
          </a:ln>
        </p:spPr>
      </p:sp>
      <p:sp>
        <p:nvSpPr>
          <p:cNvPr id="24" name="Text 22"/>
          <p:cNvSpPr/>
          <p:nvPr/>
        </p:nvSpPr>
        <p:spPr>
          <a:xfrm>
            <a:off x="487680" y="3310128"/>
            <a:ext cx="2438400" cy="512064"/>
          </a:xfrm>
          <a:prstGeom prst="rect">
            <a:avLst/>
          </a:prstGeom>
          <a:noFill/>
          <a:ln/>
        </p:spPr>
        <p:txBody>
          <a:bodyPr wrap="square" lIns="0" tIns="0" rIns="0" bIns="0" rtlCol="0" anchor="ctr"/>
          <a:lstStyle/>
          <a:p>
            <a:pPr algn="ctr"/>
            <a:r>
              <a:rPr lang="en-US" sz="1467" dirty="0">
                <a:solidFill>
                  <a:srgbClr val="9ECFEA"/>
                </a:solidFill>
                <a:latin typeface="Calibri" pitchFamily="34" charset="0"/>
                <a:ea typeface="Calibri" pitchFamily="34" charset="-122"/>
                <a:cs typeface="Calibri" pitchFamily="34" charset="-120"/>
              </a:rPr>
              <a:t>OCI IAM / JWT</a:t>
            </a:r>
            <a:endParaRPr lang="en-US" sz="1467" dirty="0"/>
          </a:p>
        </p:txBody>
      </p:sp>
      <p:sp>
        <p:nvSpPr>
          <p:cNvPr id="25" name="Shape 23"/>
          <p:cNvSpPr/>
          <p:nvPr/>
        </p:nvSpPr>
        <p:spPr>
          <a:xfrm>
            <a:off x="3413760" y="3224784"/>
            <a:ext cx="2438400" cy="670560"/>
          </a:xfrm>
          <a:prstGeom prst="rect">
            <a:avLst/>
          </a:prstGeom>
          <a:solidFill>
            <a:srgbClr val="0E3F5E"/>
          </a:solidFill>
          <a:ln w="12700">
            <a:solidFill>
              <a:srgbClr val="1C7293"/>
            </a:solidFill>
            <a:prstDash val="solid"/>
          </a:ln>
        </p:spPr>
      </p:sp>
      <p:sp>
        <p:nvSpPr>
          <p:cNvPr id="26" name="Text 24"/>
          <p:cNvSpPr/>
          <p:nvPr/>
        </p:nvSpPr>
        <p:spPr>
          <a:xfrm>
            <a:off x="3413760" y="3310128"/>
            <a:ext cx="2438400" cy="512064"/>
          </a:xfrm>
          <a:prstGeom prst="rect">
            <a:avLst/>
          </a:prstGeom>
          <a:noFill/>
          <a:ln/>
        </p:spPr>
        <p:txBody>
          <a:bodyPr wrap="square" lIns="0" tIns="0" rIns="0" bIns="0" rtlCol="0" anchor="ctr"/>
          <a:lstStyle/>
          <a:p>
            <a:pPr algn="ctr"/>
            <a:r>
              <a:rPr lang="en-US" sz="1467" dirty="0">
                <a:solidFill>
                  <a:srgbClr val="9ECFEA"/>
                </a:solidFill>
                <a:latin typeface="Calibri" pitchFamily="34" charset="0"/>
                <a:ea typeface="Calibri" pitchFamily="34" charset="-122"/>
                <a:cs typeface="Calibri" pitchFamily="34" charset="-120"/>
              </a:rPr>
              <a:t>OCI Certificates</a:t>
            </a:r>
            <a:endParaRPr lang="en-US" sz="1467" dirty="0"/>
          </a:p>
        </p:txBody>
      </p:sp>
      <p:sp>
        <p:nvSpPr>
          <p:cNvPr id="27" name="Shape 25"/>
          <p:cNvSpPr/>
          <p:nvPr/>
        </p:nvSpPr>
        <p:spPr>
          <a:xfrm>
            <a:off x="6339840" y="3224784"/>
            <a:ext cx="2438400" cy="670560"/>
          </a:xfrm>
          <a:prstGeom prst="rect">
            <a:avLst/>
          </a:prstGeom>
          <a:solidFill>
            <a:srgbClr val="0E3F5E"/>
          </a:solidFill>
          <a:ln w="12700">
            <a:solidFill>
              <a:srgbClr val="1C7293"/>
            </a:solidFill>
            <a:prstDash val="solid"/>
          </a:ln>
        </p:spPr>
      </p:sp>
      <p:sp>
        <p:nvSpPr>
          <p:cNvPr id="28" name="Text 26"/>
          <p:cNvSpPr/>
          <p:nvPr/>
        </p:nvSpPr>
        <p:spPr>
          <a:xfrm>
            <a:off x="6339840" y="3310128"/>
            <a:ext cx="2438400" cy="512064"/>
          </a:xfrm>
          <a:prstGeom prst="rect">
            <a:avLst/>
          </a:prstGeom>
          <a:noFill/>
          <a:ln/>
        </p:spPr>
        <p:txBody>
          <a:bodyPr wrap="square" lIns="0" tIns="0" rIns="0" bIns="0" rtlCol="0" anchor="ctr"/>
          <a:lstStyle/>
          <a:p>
            <a:pPr algn="ctr"/>
            <a:r>
              <a:rPr lang="en-US" sz="1467" dirty="0">
                <a:solidFill>
                  <a:srgbClr val="9ECFEA"/>
                </a:solidFill>
                <a:latin typeface="Calibri" pitchFamily="34" charset="0"/>
                <a:ea typeface="Calibri" pitchFamily="34" charset="-122"/>
                <a:cs typeface="Calibri" pitchFamily="34" charset="-120"/>
              </a:rPr>
              <a:t>OCI Logging</a:t>
            </a:r>
            <a:endParaRPr lang="en-US" sz="1467" dirty="0"/>
          </a:p>
        </p:txBody>
      </p:sp>
      <p:sp>
        <p:nvSpPr>
          <p:cNvPr id="29" name="Shape 27"/>
          <p:cNvSpPr/>
          <p:nvPr/>
        </p:nvSpPr>
        <p:spPr>
          <a:xfrm>
            <a:off x="9265920" y="3224784"/>
            <a:ext cx="2438400" cy="670560"/>
          </a:xfrm>
          <a:prstGeom prst="rect">
            <a:avLst/>
          </a:prstGeom>
          <a:solidFill>
            <a:srgbClr val="0E3F5E"/>
          </a:solidFill>
          <a:ln w="12700">
            <a:solidFill>
              <a:srgbClr val="1C7293"/>
            </a:solidFill>
            <a:prstDash val="solid"/>
          </a:ln>
        </p:spPr>
      </p:sp>
      <p:sp>
        <p:nvSpPr>
          <p:cNvPr id="30" name="Text 28"/>
          <p:cNvSpPr/>
          <p:nvPr/>
        </p:nvSpPr>
        <p:spPr>
          <a:xfrm>
            <a:off x="9265920" y="3310128"/>
            <a:ext cx="2438400" cy="512064"/>
          </a:xfrm>
          <a:prstGeom prst="rect">
            <a:avLst/>
          </a:prstGeom>
          <a:noFill/>
          <a:ln/>
        </p:spPr>
        <p:txBody>
          <a:bodyPr wrap="square" lIns="0" tIns="0" rIns="0" bIns="0" rtlCol="0" anchor="ctr"/>
          <a:lstStyle/>
          <a:p>
            <a:pPr algn="ctr"/>
            <a:r>
              <a:rPr lang="en-US" sz="1467" dirty="0">
                <a:solidFill>
                  <a:srgbClr val="9ECFEA"/>
                </a:solidFill>
                <a:latin typeface="Calibri" pitchFamily="34" charset="0"/>
                <a:ea typeface="Calibri" pitchFamily="34" charset="-122"/>
                <a:cs typeface="Calibri" pitchFamily="34" charset="-120"/>
              </a:rPr>
              <a:t>OCI Monitoring</a:t>
            </a:r>
            <a:endParaRPr lang="en-US" sz="1467" dirty="0"/>
          </a:p>
        </p:txBody>
      </p:sp>
      <p:sp>
        <p:nvSpPr>
          <p:cNvPr id="31" name="Text 29"/>
          <p:cNvSpPr/>
          <p:nvPr/>
        </p:nvSpPr>
        <p:spPr>
          <a:xfrm>
            <a:off x="487680" y="2895600"/>
            <a:ext cx="11216640" cy="341376"/>
          </a:xfrm>
          <a:prstGeom prst="rect">
            <a:avLst/>
          </a:prstGeom>
          <a:noFill/>
          <a:ln/>
        </p:spPr>
        <p:txBody>
          <a:bodyPr wrap="square" lIns="0" tIns="0" rIns="0" bIns="0" rtlCol="0" anchor="ctr"/>
          <a:lstStyle/>
          <a:p>
            <a:r>
              <a:rPr lang="en-US" i="1" dirty="0">
                <a:latin typeface="Calibri" pitchFamily="34" charset="0"/>
                <a:ea typeface="Calibri" pitchFamily="34" charset="-122"/>
                <a:cs typeface="Calibri" pitchFamily="34" charset="-120"/>
              </a:rPr>
              <a:t>Supporting OCI Services</a:t>
            </a:r>
            <a:endParaRPr lang="en-US" dirty="0"/>
          </a:p>
        </p:txBody>
      </p:sp>
      <p:graphicFrame>
        <p:nvGraphicFramePr>
          <p:cNvPr id="32" name="Table 0"/>
          <p:cNvGraphicFramePr>
            <a:graphicFrameLocks noGrp="1"/>
          </p:cNvGraphicFramePr>
          <p:nvPr>
            <p:extLst>
              <p:ext uri="{D42A27DB-BD31-4B8C-83A1-F6EECF244321}">
                <p14:modId xmlns:p14="http://schemas.microsoft.com/office/powerpoint/2010/main" val="3045476827"/>
              </p:ext>
            </p:extLst>
          </p:nvPr>
        </p:nvGraphicFramePr>
        <p:xfrm>
          <a:off x="487680" y="4017264"/>
          <a:ext cx="11216640" cy="2270760"/>
        </p:xfrm>
        <a:graphic>
          <a:graphicData uri="http://schemas.openxmlformats.org/drawingml/2006/table">
            <a:tbl>
              <a:tblPr/>
              <a:tblGrid>
                <a:gridCol w="280416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3251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65A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OCI Service</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512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DNS</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DNS</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1"/>
                  </a:ext>
                </a:extLst>
              </a:tr>
              <a:tr h="32512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TLS / Certs</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Certificates</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2"/>
                  </a:ext>
                </a:extLst>
              </a:tr>
              <a:tr h="32512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API Management</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API Gateway</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3"/>
                  </a:ext>
                </a:extLst>
              </a:tr>
              <a:tr h="32512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Auth</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IAM / IDCS / Custom JWT</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4"/>
                  </a:ext>
                </a:extLst>
              </a:tr>
              <a:tr h="32512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Compute / Logic</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Functions or OKE</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5"/>
                  </a:ext>
                </a:extLst>
              </a:tr>
              <a:tr h="0">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Observability</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tc>
                  <a:txBody>
                    <a:bodyPr/>
                    <a:lstStyle/>
                    <a:p>
                      <a:pPr marL="0" indent="0">
                        <a:buNone/>
                      </a:pPr>
                      <a:r>
                        <a:rPr lang="en-US" sz="1300" dirty="0">
                          <a:solidFill>
                            <a:srgbClr val="D0E8F5"/>
                          </a:solidFill>
                          <a:latin typeface="Calibri" pitchFamily="34" charset="0"/>
                          <a:ea typeface="Calibri" pitchFamily="34" charset="-122"/>
                          <a:cs typeface="Calibri" pitchFamily="34" charset="-120"/>
                        </a:rPr>
                        <a:t>OCI Logging, APM, Monitoring, OCI Log Analytics API GW Dashboards</a:t>
                      </a:r>
                      <a:endParaRPr lang="en-US" sz="1300" dirty="0">
                        <a:latin typeface="Calibri" charset="0"/>
                        <a:ea typeface="Calibri" charset="0"/>
                        <a:cs typeface="Calibri" charset="0"/>
                      </a:endParaRPr>
                    </a:p>
                  </a:txBody>
                  <a:tcPr marL="121920" marR="121920" marT="60960" marB="60960">
                    <a:lnL w="12700" cap="flat" cmpd="sng" algn="ctr">
                      <a:solidFill>
                        <a:srgbClr val="1C4A6E"/>
                      </a:solidFill>
                      <a:prstDash val="solid"/>
                      <a:round/>
                      <a:headEnd type="none" w="med" len="med"/>
                      <a:tailEnd type="none" w="med" len="med"/>
                    </a:lnL>
                    <a:lnR w="12700" cap="flat" cmpd="sng" algn="ctr">
                      <a:solidFill>
                        <a:srgbClr val="1C4A6E"/>
                      </a:solidFill>
                      <a:prstDash val="solid"/>
                      <a:round/>
                      <a:headEnd type="none" w="med" len="med"/>
                      <a:tailEnd type="none" w="med" len="med"/>
                    </a:lnR>
                    <a:lnT w="12700" cap="flat" cmpd="sng" algn="ctr">
                      <a:solidFill>
                        <a:srgbClr val="1C4A6E"/>
                      </a:solidFill>
                      <a:prstDash val="solid"/>
                      <a:round/>
                      <a:headEnd type="none" w="med" len="med"/>
                      <a:tailEnd type="none" w="med" len="med"/>
                    </a:lnT>
                    <a:lnB w="12700" cap="flat" cmpd="sng" algn="ctr">
                      <a:solidFill>
                        <a:srgbClr val="1C4A6E"/>
                      </a:solidFill>
                      <a:prstDash val="solid"/>
                      <a:round/>
                      <a:headEnd type="none" w="med" len="med"/>
                      <a:tailEnd type="none" w="med" len="med"/>
                    </a:lnB>
                    <a:solidFill>
                      <a:srgbClr val="0A2D45"/>
                    </a:solidFill>
                  </a:tcPr>
                </a:tc>
                <a:extLst>
                  <a:ext uri="{0D108BD9-81ED-4DB2-BD59-A6C34878D82A}">
                    <a16:rowId xmlns:a16="http://schemas.microsoft.com/office/drawing/2014/main" val="10006"/>
                  </a:ext>
                </a:extLst>
              </a:tr>
            </a:tbl>
          </a:graphicData>
        </a:graphic>
      </p:graphicFrame>
      <p:pic>
        <p:nvPicPr>
          <p:cNvPr id="33" name="Picture 32" descr="A white and blue logo&#10;&#10;AI-generated content may be incorrect.">
            <a:extLst>
              <a:ext uri="{FF2B5EF4-FFF2-40B4-BE49-F238E27FC236}">
                <a16:creationId xmlns:a16="http://schemas.microsoft.com/office/drawing/2014/main" id="{798D85E6-8F4F-FBEF-FFFF-3D53723C16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21920"/>
            <a:ext cx="11216640" cy="792480"/>
          </a:xfrm>
          <a:prstGeom prst="rect">
            <a:avLst/>
          </a:prstGeom>
          <a:noFill/>
          <a:ln/>
        </p:spPr>
        <p:txBody>
          <a:bodyPr wrap="square" lIns="0" tIns="0" rIns="0" bIns="0" rtlCol="0" anchor="ctr"/>
          <a:lstStyle/>
          <a:p>
            <a:r>
              <a:rPr lang="en-US" sz="3467" b="1" dirty="0">
                <a:latin typeface="Calibri" pitchFamily="34" charset="0"/>
                <a:ea typeface="Calibri" pitchFamily="34" charset="-122"/>
                <a:cs typeface="Calibri" pitchFamily="34" charset="-120"/>
              </a:rPr>
              <a:t>Deployment Models</a:t>
            </a:r>
            <a:endParaRPr lang="en-US" sz="3467" dirty="0"/>
          </a:p>
        </p:txBody>
      </p:sp>
      <p:sp>
        <p:nvSpPr>
          <p:cNvPr id="4" name="Shape 2"/>
          <p:cNvSpPr/>
          <p:nvPr/>
        </p:nvSpPr>
        <p:spPr>
          <a:xfrm>
            <a:off x="487680" y="1280160"/>
            <a:ext cx="5486400" cy="5242560"/>
          </a:xfrm>
          <a:prstGeom prst="rect">
            <a:avLst/>
          </a:prstGeom>
          <a:solidFill>
            <a:srgbClr val="FFFFFF"/>
          </a:solidFill>
          <a:ln w="12700">
            <a:solidFill>
              <a:srgbClr val="CBD5E1"/>
            </a:solidFill>
            <a:prstDash val="solid"/>
          </a:ln>
          <a:effectLst>
            <a:outerShdw blurRad="127000" dist="38100" dir="8100000" algn="bl" rotWithShape="0">
              <a:srgbClr val="000000">
                <a:alpha val="10000"/>
              </a:srgbClr>
            </a:outerShdw>
          </a:effectLst>
        </p:spPr>
      </p:sp>
      <p:sp>
        <p:nvSpPr>
          <p:cNvPr id="5" name="Shape 3"/>
          <p:cNvSpPr/>
          <p:nvPr/>
        </p:nvSpPr>
        <p:spPr>
          <a:xfrm>
            <a:off x="487680" y="1280160"/>
            <a:ext cx="5486400" cy="73152"/>
          </a:xfrm>
          <a:prstGeom prst="rect">
            <a:avLst/>
          </a:prstGeom>
          <a:solidFill>
            <a:srgbClr val="0369A1"/>
          </a:solidFill>
          <a:ln/>
        </p:spPr>
      </p:sp>
      <p:sp>
        <p:nvSpPr>
          <p:cNvPr id="6" name="Text 4"/>
          <p:cNvSpPr/>
          <p:nvPr/>
        </p:nvSpPr>
        <p:spPr>
          <a:xfrm>
            <a:off x="670560" y="1463040"/>
            <a:ext cx="5120640" cy="609600"/>
          </a:xfrm>
          <a:prstGeom prst="rect">
            <a:avLst/>
          </a:prstGeom>
          <a:noFill/>
          <a:ln/>
        </p:spPr>
        <p:txBody>
          <a:bodyPr wrap="square" lIns="0" tIns="0" rIns="0" bIns="0" rtlCol="0" anchor="ctr"/>
          <a:lstStyle/>
          <a:p>
            <a:r>
              <a:rPr lang="en-US" sz="2800" b="1" dirty="0">
                <a:solidFill>
                  <a:srgbClr val="065A82"/>
                </a:solidFill>
                <a:latin typeface="Calibri" pitchFamily="34" charset="0"/>
                <a:ea typeface="Calibri" pitchFamily="34" charset="-122"/>
                <a:cs typeface="Calibri" pitchFamily="34" charset="-120"/>
              </a:rPr>
              <a:t>Public API Gateway</a:t>
            </a:r>
            <a:endParaRPr lang="en-US" sz="2800" dirty="0"/>
          </a:p>
        </p:txBody>
      </p:sp>
      <p:sp>
        <p:nvSpPr>
          <p:cNvPr id="7" name="Shape 5"/>
          <p:cNvSpPr/>
          <p:nvPr/>
        </p:nvSpPr>
        <p:spPr>
          <a:xfrm>
            <a:off x="670560" y="2170176"/>
            <a:ext cx="1828800" cy="390144"/>
          </a:xfrm>
          <a:prstGeom prst="roundRect">
            <a:avLst>
              <a:gd name="adj" fmla="val 15625"/>
            </a:avLst>
          </a:prstGeom>
          <a:solidFill>
            <a:srgbClr val="0369A1"/>
          </a:solidFill>
          <a:ln/>
        </p:spPr>
      </p:sp>
      <p:sp>
        <p:nvSpPr>
          <p:cNvPr id="8" name="Text 6"/>
          <p:cNvSpPr/>
          <p:nvPr/>
        </p:nvSpPr>
        <p:spPr>
          <a:xfrm>
            <a:off x="670560" y="2170176"/>
            <a:ext cx="1828800" cy="39014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External Facing</a:t>
            </a:r>
            <a:endParaRPr lang="en-US" sz="1600" dirty="0"/>
          </a:p>
        </p:txBody>
      </p:sp>
      <p:sp>
        <p:nvSpPr>
          <p:cNvPr id="9" name="Text 7"/>
          <p:cNvSpPr/>
          <p:nvPr/>
        </p:nvSpPr>
        <p:spPr>
          <a:xfrm>
            <a:off x="670560" y="2743200"/>
            <a:ext cx="4998720" cy="3413760"/>
          </a:xfrm>
          <a:prstGeom prst="rect">
            <a:avLst/>
          </a:prstGeom>
          <a:noFill/>
          <a:ln/>
        </p:spPr>
        <p:txBody>
          <a:bodyPr wrap="square" rtlCol="0" anchor="ctr"/>
          <a:lstStyle/>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Accessible over the public internet</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Best for external-facing / consumer APIs</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Assigns a public IP and hostname</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Supports custom domain with OCI Certs</a:t>
            </a:r>
            <a:endParaRPr lang="en-US" sz="2000" dirty="0"/>
          </a:p>
        </p:txBody>
      </p:sp>
      <p:sp>
        <p:nvSpPr>
          <p:cNvPr id="10" name="Shape 8"/>
          <p:cNvSpPr/>
          <p:nvPr/>
        </p:nvSpPr>
        <p:spPr>
          <a:xfrm>
            <a:off x="6339840" y="1280160"/>
            <a:ext cx="5486400" cy="5242560"/>
          </a:xfrm>
          <a:prstGeom prst="rect">
            <a:avLst/>
          </a:prstGeom>
          <a:solidFill>
            <a:srgbClr val="FFFFFF"/>
          </a:solidFill>
          <a:ln w="12700">
            <a:solidFill>
              <a:srgbClr val="CBD5E1"/>
            </a:solidFill>
            <a:prstDash val="solid"/>
          </a:ln>
          <a:effectLst>
            <a:outerShdw blurRad="127000" dist="38100" dir="8100000" algn="bl" rotWithShape="0">
              <a:srgbClr val="000000">
                <a:alpha val="10000"/>
              </a:srgbClr>
            </a:outerShdw>
          </a:effectLst>
        </p:spPr>
      </p:sp>
      <p:sp>
        <p:nvSpPr>
          <p:cNvPr id="11" name="Shape 9"/>
          <p:cNvSpPr/>
          <p:nvPr/>
        </p:nvSpPr>
        <p:spPr>
          <a:xfrm>
            <a:off x="6339840" y="1280160"/>
            <a:ext cx="5486400" cy="73152"/>
          </a:xfrm>
          <a:prstGeom prst="rect">
            <a:avLst/>
          </a:prstGeom>
          <a:solidFill>
            <a:srgbClr val="0F766E"/>
          </a:solidFill>
          <a:ln/>
        </p:spPr>
      </p:sp>
      <p:sp>
        <p:nvSpPr>
          <p:cNvPr id="12" name="Text 10"/>
          <p:cNvSpPr/>
          <p:nvPr/>
        </p:nvSpPr>
        <p:spPr>
          <a:xfrm>
            <a:off x="6522720" y="1463040"/>
            <a:ext cx="5120640" cy="609600"/>
          </a:xfrm>
          <a:prstGeom prst="rect">
            <a:avLst/>
          </a:prstGeom>
          <a:noFill/>
          <a:ln/>
        </p:spPr>
        <p:txBody>
          <a:bodyPr wrap="square" lIns="0" tIns="0" rIns="0" bIns="0" rtlCol="0" anchor="ctr"/>
          <a:lstStyle/>
          <a:p>
            <a:r>
              <a:rPr lang="en-US" sz="2800" b="1" dirty="0">
                <a:solidFill>
                  <a:srgbClr val="065A82"/>
                </a:solidFill>
                <a:latin typeface="Calibri" pitchFamily="34" charset="0"/>
                <a:ea typeface="Calibri" pitchFamily="34" charset="-122"/>
                <a:cs typeface="Calibri" pitchFamily="34" charset="-120"/>
              </a:rPr>
              <a:t>Private API Gateway</a:t>
            </a:r>
            <a:endParaRPr lang="en-US" sz="2800" dirty="0"/>
          </a:p>
        </p:txBody>
      </p:sp>
      <p:sp>
        <p:nvSpPr>
          <p:cNvPr id="13" name="Shape 11"/>
          <p:cNvSpPr/>
          <p:nvPr/>
        </p:nvSpPr>
        <p:spPr>
          <a:xfrm>
            <a:off x="6522720" y="2170176"/>
            <a:ext cx="1828800" cy="390144"/>
          </a:xfrm>
          <a:prstGeom prst="roundRect">
            <a:avLst>
              <a:gd name="adj" fmla="val 15625"/>
            </a:avLst>
          </a:prstGeom>
          <a:solidFill>
            <a:srgbClr val="0F766E"/>
          </a:solidFill>
          <a:ln/>
        </p:spPr>
      </p:sp>
      <p:sp>
        <p:nvSpPr>
          <p:cNvPr id="14" name="Text 12"/>
          <p:cNvSpPr/>
          <p:nvPr/>
        </p:nvSpPr>
        <p:spPr>
          <a:xfrm>
            <a:off x="6522720" y="2170176"/>
            <a:ext cx="1828800" cy="39014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Internal / Intranet</a:t>
            </a:r>
            <a:endParaRPr lang="en-US" sz="1600" dirty="0"/>
          </a:p>
        </p:txBody>
      </p:sp>
      <p:sp>
        <p:nvSpPr>
          <p:cNvPr id="15" name="Text 13"/>
          <p:cNvSpPr/>
          <p:nvPr/>
        </p:nvSpPr>
        <p:spPr>
          <a:xfrm>
            <a:off x="6522720" y="2743200"/>
            <a:ext cx="4998720" cy="3413760"/>
          </a:xfrm>
          <a:prstGeom prst="rect">
            <a:avLst/>
          </a:prstGeom>
          <a:noFill/>
          <a:ln/>
        </p:spPr>
        <p:txBody>
          <a:bodyPr wrap="square" rtlCol="0" anchor="ctr"/>
          <a:lstStyle/>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Accessible only within a VCN</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Best for internal microservices</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No public exposure — zero attack surface</a:t>
            </a:r>
            <a:endParaRPr lang="en-US" sz="2000" dirty="0"/>
          </a:p>
          <a:p>
            <a:pPr marL="457189" indent="-457189">
              <a:spcAft>
                <a:spcPts val="533"/>
              </a:spcAft>
              <a:buSzPct val="100000"/>
              <a:buChar char="•"/>
            </a:pPr>
            <a:r>
              <a:rPr lang="en-US" sz="2000" dirty="0">
                <a:solidFill>
                  <a:srgbClr val="1E293B"/>
                </a:solidFill>
                <a:latin typeface="Calibri" pitchFamily="34" charset="0"/>
                <a:ea typeface="Calibri" pitchFamily="34" charset="-122"/>
                <a:cs typeface="Calibri" pitchFamily="34" charset="-120"/>
              </a:rPr>
              <a:t>Ideal for backend-to-backend communication</a:t>
            </a:r>
            <a:endParaRPr lang="en-US" sz="2000" dirty="0"/>
          </a:p>
        </p:txBody>
      </p:sp>
      <p:pic>
        <p:nvPicPr>
          <p:cNvPr id="3076" name="Picture 4">
            <a:extLst>
              <a:ext uri="{FF2B5EF4-FFF2-40B4-BE49-F238E27FC236}">
                <a16:creationId xmlns:a16="http://schemas.microsoft.com/office/drawing/2014/main" id="{21425852-5619-7417-99CD-7A32528DA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086334"/>
            <a:ext cx="2674620" cy="135016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73D6005-9671-CBB8-55ED-6E08D876E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3847" y="1984452"/>
            <a:ext cx="2449513" cy="159389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white and blue logo&#10;&#10;AI-generated content may be incorrect.">
            <a:extLst>
              <a:ext uri="{FF2B5EF4-FFF2-40B4-BE49-F238E27FC236}">
                <a16:creationId xmlns:a16="http://schemas.microsoft.com/office/drawing/2014/main" id="{DCD756E0-83C3-C2EE-A0CC-FB7FF748FC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pic>
        <p:nvPicPr>
          <p:cNvPr id="17" name="Picture 2" descr="Oracle Joins Continuous Delivery Foundation - CD Foundation">
            <a:extLst>
              <a:ext uri="{FF2B5EF4-FFF2-40B4-BE49-F238E27FC236}">
                <a16:creationId xmlns:a16="http://schemas.microsoft.com/office/drawing/2014/main" id="{379E77E7-A7B6-1BF5-8012-1B70674502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1140" y="1424452"/>
            <a:ext cx="1090060" cy="623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Oracle Joins Continuous Delivery Foundation - CD Foundation">
            <a:extLst>
              <a:ext uri="{FF2B5EF4-FFF2-40B4-BE49-F238E27FC236}">
                <a16:creationId xmlns:a16="http://schemas.microsoft.com/office/drawing/2014/main" id="{D2036B0C-A9AB-ACFE-7FE8-2643004DBB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53300" y="1374008"/>
            <a:ext cx="1090060" cy="623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21920"/>
            <a:ext cx="11216640" cy="792480"/>
          </a:xfrm>
          <a:prstGeom prst="rect">
            <a:avLst/>
          </a:prstGeom>
          <a:noFill/>
          <a:ln/>
        </p:spPr>
        <p:txBody>
          <a:bodyPr wrap="square" lIns="0" tIns="0" rIns="0" bIns="0" rtlCol="0" anchor="ctr"/>
          <a:lstStyle/>
          <a:p>
            <a:r>
              <a:rPr lang="en-US" sz="3467" b="1" dirty="0">
                <a:latin typeface="Calibri" pitchFamily="34" charset="0"/>
                <a:ea typeface="Calibri" pitchFamily="34" charset="-122"/>
                <a:cs typeface="Calibri" pitchFamily="34" charset="-120"/>
              </a:rPr>
              <a:t>Best Practices</a:t>
            </a:r>
            <a:endParaRPr lang="en-US" sz="3467" dirty="0"/>
          </a:p>
        </p:txBody>
      </p:sp>
      <p:sp>
        <p:nvSpPr>
          <p:cNvPr id="4" name="Shape 2"/>
          <p:cNvSpPr/>
          <p:nvPr/>
        </p:nvSpPr>
        <p:spPr>
          <a:xfrm>
            <a:off x="426720" y="1280160"/>
            <a:ext cx="5547360" cy="1463040"/>
          </a:xfrm>
          <a:prstGeom prst="rect">
            <a:avLst/>
          </a:prstGeom>
          <a:solidFill>
            <a:srgbClr val="EEF6FB"/>
          </a:solidFill>
          <a:ln w="12700">
            <a:solidFill>
              <a:srgbClr val="D0E8F5"/>
            </a:solidFill>
            <a:prstDash val="solid"/>
          </a:ln>
        </p:spPr>
      </p:sp>
      <p:sp>
        <p:nvSpPr>
          <p:cNvPr id="5" name="Shape 3"/>
          <p:cNvSpPr/>
          <p:nvPr/>
        </p:nvSpPr>
        <p:spPr>
          <a:xfrm>
            <a:off x="548640" y="1584960"/>
            <a:ext cx="633984" cy="633984"/>
          </a:xfrm>
          <a:prstGeom prst="ellipse">
            <a:avLst/>
          </a:prstGeom>
          <a:solidFill>
            <a:srgbClr val="065A82"/>
          </a:solidFill>
          <a:ln/>
        </p:spPr>
      </p:sp>
      <p:sp>
        <p:nvSpPr>
          <p:cNvPr id="6" name="Text 4"/>
          <p:cNvSpPr/>
          <p:nvPr/>
        </p:nvSpPr>
        <p:spPr>
          <a:xfrm>
            <a:off x="548640" y="162153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01</a:t>
            </a:r>
            <a:endParaRPr lang="en-US" dirty="0"/>
          </a:p>
        </p:txBody>
      </p:sp>
      <p:sp>
        <p:nvSpPr>
          <p:cNvPr id="7" name="Text 5"/>
          <p:cNvSpPr/>
          <p:nvPr/>
        </p:nvSpPr>
        <p:spPr>
          <a:xfrm>
            <a:off x="1341120" y="140208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VCN-Native Endpoints</a:t>
            </a:r>
            <a:endParaRPr lang="en-US" dirty="0"/>
          </a:p>
        </p:txBody>
      </p:sp>
      <p:sp>
        <p:nvSpPr>
          <p:cNvPr id="8" name="Text 6"/>
          <p:cNvSpPr/>
          <p:nvPr/>
        </p:nvSpPr>
        <p:spPr>
          <a:xfrm>
            <a:off x="1341120" y="191414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Place gateway in a dedicated subnet with proper Security Lists &amp; NSGs</a:t>
            </a:r>
            <a:endParaRPr lang="en-US" sz="1600" dirty="0"/>
          </a:p>
        </p:txBody>
      </p:sp>
      <p:sp>
        <p:nvSpPr>
          <p:cNvPr id="9" name="Shape 7"/>
          <p:cNvSpPr/>
          <p:nvPr/>
        </p:nvSpPr>
        <p:spPr>
          <a:xfrm>
            <a:off x="6339840" y="1280160"/>
            <a:ext cx="5547360" cy="1463040"/>
          </a:xfrm>
          <a:prstGeom prst="rect">
            <a:avLst/>
          </a:prstGeom>
          <a:solidFill>
            <a:srgbClr val="EEF6FB"/>
          </a:solidFill>
          <a:ln w="12700">
            <a:solidFill>
              <a:srgbClr val="D0E8F5"/>
            </a:solidFill>
            <a:prstDash val="solid"/>
          </a:ln>
        </p:spPr>
      </p:sp>
      <p:sp>
        <p:nvSpPr>
          <p:cNvPr id="10" name="Shape 8"/>
          <p:cNvSpPr/>
          <p:nvPr/>
        </p:nvSpPr>
        <p:spPr>
          <a:xfrm>
            <a:off x="6461760" y="1584960"/>
            <a:ext cx="633984" cy="633984"/>
          </a:xfrm>
          <a:prstGeom prst="ellipse">
            <a:avLst/>
          </a:prstGeom>
          <a:solidFill>
            <a:srgbClr val="065A82"/>
          </a:solidFill>
          <a:ln/>
        </p:spPr>
      </p:sp>
      <p:sp>
        <p:nvSpPr>
          <p:cNvPr id="11" name="Text 9"/>
          <p:cNvSpPr/>
          <p:nvPr/>
        </p:nvSpPr>
        <p:spPr>
          <a:xfrm>
            <a:off x="6461760" y="162153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02</a:t>
            </a:r>
            <a:endParaRPr lang="en-US" dirty="0"/>
          </a:p>
        </p:txBody>
      </p:sp>
      <p:sp>
        <p:nvSpPr>
          <p:cNvPr id="12" name="Text 10"/>
          <p:cNvSpPr/>
          <p:nvPr/>
        </p:nvSpPr>
        <p:spPr>
          <a:xfrm>
            <a:off x="7254240" y="140208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OCI Functions as Authorizers</a:t>
            </a:r>
            <a:endParaRPr lang="en-US" dirty="0"/>
          </a:p>
        </p:txBody>
      </p:sp>
      <p:sp>
        <p:nvSpPr>
          <p:cNvPr id="13" name="Text 11"/>
          <p:cNvSpPr/>
          <p:nvPr/>
        </p:nvSpPr>
        <p:spPr>
          <a:xfrm>
            <a:off x="7254240" y="191414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Use custom Function authorizers for API keys and custom token logic</a:t>
            </a:r>
            <a:endParaRPr lang="en-US" sz="1600" dirty="0"/>
          </a:p>
        </p:txBody>
      </p:sp>
      <p:sp>
        <p:nvSpPr>
          <p:cNvPr id="14" name="Shape 12"/>
          <p:cNvSpPr/>
          <p:nvPr/>
        </p:nvSpPr>
        <p:spPr>
          <a:xfrm>
            <a:off x="426720" y="2987040"/>
            <a:ext cx="5547360" cy="1463040"/>
          </a:xfrm>
          <a:prstGeom prst="rect">
            <a:avLst/>
          </a:prstGeom>
          <a:solidFill>
            <a:srgbClr val="EEF6FB"/>
          </a:solidFill>
          <a:ln w="12700">
            <a:solidFill>
              <a:srgbClr val="D0E8F5"/>
            </a:solidFill>
            <a:prstDash val="solid"/>
          </a:ln>
        </p:spPr>
      </p:sp>
      <p:sp>
        <p:nvSpPr>
          <p:cNvPr id="15" name="Shape 13"/>
          <p:cNvSpPr/>
          <p:nvPr/>
        </p:nvSpPr>
        <p:spPr>
          <a:xfrm>
            <a:off x="548640" y="3291840"/>
            <a:ext cx="633984" cy="633984"/>
          </a:xfrm>
          <a:prstGeom prst="ellipse">
            <a:avLst/>
          </a:prstGeom>
          <a:solidFill>
            <a:srgbClr val="065A82"/>
          </a:solidFill>
          <a:ln/>
        </p:spPr>
      </p:sp>
      <p:sp>
        <p:nvSpPr>
          <p:cNvPr id="16" name="Text 14"/>
          <p:cNvSpPr/>
          <p:nvPr/>
        </p:nvSpPr>
        <p:spPr>
          <a:xfrm>
            <a:off x="548640" y="332841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03</a:t>
            </a:r>
            <a:endParaRPr lang="en-US" dirty="0"/>
          </a:p>
        </p:txBody>
      </p:sp>
      <p:sp>
        <p:nvSpPr>
          <p:cNvPr id="17" name="Text 15"/>
          <p:cNvSpPr/>
          <p:nvPr/>
        </p:nvSpPr>
        <p:spPr>
          <a:xfrm>
            <a:off x="1341120" y="310896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Enable Logging</a:t>
            </a:r>
            <a:endParaRPr lang="en-US" dirty="0"/>
          </a:p>
        </p:txBody>
      </p:sp>
      <p:sp>
        <p:nvSpPr>
          <p:cNvPr id="18" name="Text 16"/>
          <p:cNvSpPr/>
          <p:nvPr/>
        </p:nvSpPr>
        <p:spPr>
          <a:xfrm>
            <a:off x="1341120" y="362102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Send access logs to OCI Logging for auditing and debugging</a:t>
            </a:r>
            <a:endParaRPr lang="en-US" sz="1600" dirty="0"/>
          </a:p>
        </p:txBody>
      </p:sp>
      <p:sp>
        <p:nvSpPr>
          <p:cNvPr id="19" name="Shape 17"/>
          <p:cNvSpPr/>
          <p:nvPr/>
        </p:nvSpPr>
        <p:spPr>
          <a:xfrm>
            <a:off x="6339840" y="2987040"/>
            <a:ext cx="5547360" cy="1463040"/>
          </a:xfrm>
          <a:prstGeom prst="rect">
            <a:avLst/>
          </a:prstGeom>
          <a:solidFill>
            <a:srgbClr val="EEF6FB"/>
          </a:solidFill>
          <a:ln w="12700">
            <a:solidFill>
              <a:srgbClr val="D0E8F5"/>
            </a:solidFill>
            <a:prstDash val="solid"/>
          </a:ln>
        </p:spPr>
      </p:sp>
      <p:sp>
        <p:nvSpPr>
          <p:cNvPr id="20" name="Shape 18"/>
          <p:cNvSpPr/>
          <p:nvPr/>
        </p:nvSpPr>
        <p:spPr>
          <a:xfrm>
            <a:off x="6461760" y="3291840"/>
            <a:ext cx="633984" cy="633984"/>
          </a:xfrm>
          <a:prstGeom prst="ellipse">
            <a:avLst/>
          </a:prstGeom>
          <a:solidFill>
            <a:srgbClr val="065A82"/>
          </a:solidFill>
          <a:ln/>
        </p:spPr>
      </p:sp>
      <p:sp>
        <p:nvSpPr>
          <p:cNvPr id="21" name="Text 19"/>
          <p:cNvSpPr/>
          <p:nvPr/>
        </p:nvSpPr>
        <p:spPr>
          <a:xfrm>
            <a:off x="6461760" y="332841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04</a:t>
            </a:r>
            <a:endParaRPr lang="en-US" dirty="0"/>
          </a:p>
        </p:txBody>
      </p:sp>
      <p:sp>
        <p:nvSpPr>
          <p:cNvPr id="22" name="Text 20"/>
          <p:cNvSpPr/>
          <p:nvPr/>
        </p:nvSpPr>
        <p:spPr>
          <a:xfrm>
            <a:off x="7254240" y="310896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Usage Plans</a:t>
            </a:r>
            <a:endParaRPr lang="en-US" dirty="0"/>
          </a:p>
        </p:txBody>
      </p:sp>
      <p:sp>
        <p:nvSpPr>
          <p:cNvPr id="23" name="Text 21"/>
          <p:cNvSpPr/>
          <p:nvPr/>
        </p:nvSpPr>
        <p:spPr>
          <a:xfrm>
            <a:off x="7254240" y="362102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Control and monetize API consumption per subscriber</a:t>
            </a:r>
            <a:endParaRPr lang="en-US" sz="1600" dirty="0"/>
          </a:p>
        </p:txBody>
      </p:sp>
      <p:sp>
        <p:nvSpPr>
          <p:cNvPr id="24" name="Shape 22"/>
          <p:cNvSpPr/>
          <p:nvPr/>
        </p:nvSpPr>
        <p:spPr>
          <a:xfrm>
            <a:off x="426720" y="4693920"/>
            <a:ext cx="5547360" cy="1463040"/>
          </a:xfrm>
          <a:prstGeom prst="rect">
            <a:avLst/>
          </a:prstGeom>
          <a:solidFill>
            <a:srgbClr val="EEF6FB"/>
          </a:solidFill>
          <a:ln w="12700">
            <a:solidFill>
              <a:srgbClr val="D0E8F5"/>
            </a:solidFill>
            <a:prstDash val="solid"/>
          </a:ln>
        </p:spPr>
      </p:sp>
      <p:sp>
        <p:nvSpPr>
          <p:cNvPr id="25" name="Shape 23"/>
          <p:cNvSpPr/>
          <p:nvPr/>
        </p:nvSpPr>
        <p:spPr>
          <a:xfrm>
            <a:off x="548640" y="4998720"/>
            <a:ext cx="633984" cy="633984"/>
          </a:xfrm>
          <a:prstGeom prst="ellipse">
            <a:avLst/>
          </a:prstGeom>
          <a:solidFill>
            <a:srgbClr val="065A82"/>
          </a:solidFill>
          <a:ln/>
        </p:spPr>
      </p:sp>
      <p:sp>
        <p:nvSpPr>
          <p:cNvPr id="26" name="Text 24"/>
          <p:cNvSpPr/>
          <p:nvPr/>
        </p:nvSpPr>
        <p:spPr>
          <a:xfrm>
            <a:off x="548640" y="503529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05</a:t>
            </a:r>
            <a:endParaRPr lang="en-US" dirty="0"/>
          </a:p>
        </p:txBody>
      </p:sp>
      <p:sp>
        <p:nvSpPr>
          <p:cNvPr id="27" name="Text 25"/>
          <p:cNvSpPr/>
          <p:nvPr/>
        </p:nvSpPr>
        <p:spPr>
          <a:xfrm>
            <a:off x="1341120" y="481584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Separate by Environment</a:t>
            </a:r>
            <a:endParaRPr lang="en-US" dirty="0"/>
          </a:p>
        </p:txBody>
      </p:sp>
      <p:sp>
        <p:nvSpPr>
          <p:cNvPr id="28" name="Text 26"/>
          <p:cNvSpPr/>
          <p:nvPr/>
        </p:nvSpPr>
        <p:spPr>
          <a:xfrm>
            <a:off x="1341120" y="532790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Use distinct API deployments for dev / staging / production</a:t>
            </a:r>
            <a:endParaRPr lang="en-US" sz="1600" dirty="0"/>
          </a:p>
        </p:txBody>
      </p:sp>
      <p:sp>
        <p:nvSpPr>
          <p:cNvPr id="29" name="Shape 27"/>
          <p:cNvSpPr/>
          <p:nvPr/>
        </p:nvSpPr>
        <p:spPr>
          <a:xfrm>
            <a:off x="6339840" y="4693920"/>
            <a:ext cx="5547360" cy="1463040"/>
          </a:xfrm>
          <a:prstGeom prst="rect">
            <a:avLst/>
          </a:prstGeom>
          <a:solidFill>
            <a:srgbClr val="EEF6FB"/>
          </a:solidFill>
          <a:ln w="12700">
            <a:solidFill>
              <a:srgbClr val="D0E8F5"/>
            </a:solidFill>
            <a:prstDash val="solid"/>
          </a:ln>
        </p:spPr>
      </p:sp>
      <p:sp>
        <p:nvSpPr>
          <p:cNvPr id="30" name="Shape 28"/>
          <p:cNvSpPr/>
          <p:nvPr/>
        </p:nvSpPr>
        <p:spPr>
          <a:xfrm>
            <a:off x="6461760" y="4998720"/>
            <a:ext cx="633984" cy="633984"/>
          </a:xfrm>
          <a:prstGeom prst="ellipse">
            <a:avLst/>
          </a:prstGeom>
          <a:solidFill>
            <a:srgbClr val="065A82"/>
          </a:solidFill>
          <a:ln/>
        </p:spPr>
      </p:sp>
      <p:sp>
        <p:nvSpPr>
          <p:cNvPr id="31" name="Text 29"/>
          <p:cNvSpPr/>
          <p:nvPr/>
        </p:nvSpPr>
        <p:spPr>
          <a:xfrm>
            <a:off x="6461760" y="5035296"/>
            <a:ext cx="633984" cy="512064"/>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06</a:t>
            </a:r>
            <a:endParaRPr lang="en-US" dirty="0"/>
          </a:p>
        </p:txBody>
      </p:sp>
      <p:sp>
        <p:nvSpPr>
          <p:cNvPr id="32" name="Text 30"/>
          <p:cNvSpPr/>
          <p:nvPr/>
        </p:nvSpPr>
        <p:spPr>
          <a:xfrm>
            <a:off x="7254240" y="4815840"/>
            <a:ext cx="4450080" cy="463296"/>
          </a:xfrm>
          <a:prstGeom prst="rect">
            <a:avLst/>
          </a:prstGeom>
          <a:noFill/>
          <a:ln/>
        </p:spPr>
        <p:txBody>
          <a:bodyPr wrap="square" lIns="0" tIns="0" rIns="0" bIns="0" rtlCol="0" anchor="ctr"/>
          <a:lstStyle/>
          <a:p>
            <a:r>
              <a:rPr lang="en-US" b="1" dirty="0">
                <a:solidFill>
                  <a:srgbClr val="065A82"/>
                </a:solidFill>
                <a:latin typeface="Calibri" pitchFamily="34" charset="0"/>
                <a:ea typeface="Calibri" pitchFamily="34" charset="-122"/>
                <a:cs typeface="Calibri" pitchFamily="34" charset="-120"/>
              </a:rPr>
              <a:t>Apply Rate Limiting Early</a:t>
            </a:r>
            <a:endParaRPr lang="en-US" dirty="0"/>
          </a:p>
        </p:txBody>
      </p:sp>
      <p:sp>
        <p:nvSpPr>
          <p:cNvPr id="33" name="Text 31"/>
          <p:cNvSpPr/>
          <p:nvPr/>
        </p:nvSpPr>
        <p:spPr>
          <a:xfrm>
            <a:off x="7254240" y="5327904"/>
            <a:ext cx="4450080" cy="682752"/>
          </a:xfrm>
          <a:prstGeom prst="rect">
            <a:avLst/>
          </a:prstGeom>
          <a:noFill/>
          <a:ln/>
        </p:spPr>
        <p:txBody>
          <a:bodyPr wrap="square" lIns="0" tIns="0" rIns="0" bIns="0" rtlCol="0" anchor="ctr"/>
          <a:lstStyle/>
          <a:p>
            <a:r>
              <a:rPr lang="en-US" sz="1600" dirty="0">
                <a:solidFill>
                  <a:srgbClr val="1E293B"/>
                </a:solidFill>
                <a:latin typeface="Calibri" pitchFamily="34" charset="0"/>
                <a:ea typeface="Calibri" pitchFamily="34" charset="-122"/>
                <a:cs typeface="Calibri" pitchFamily="34" charset="-120"/>
              </a:rPr>
              <a:t>Protect backends from traffic spikes at the gateway level</a:t>
            </a:r>
            <a:endParaRPr lang="en-US" sz="1600" dirty="0"/>
          </a:p>
        </p:txBody>
      </p:sp>
      <p:pic>
        <p:nvPicPr>
          <p:cNvPr id="34" name="Picture 33" descr="A white and blue logo&#10;&#10;AI-generated content may be incorrect.">
            <a:extLst>
              <a:ext uri="{FF2B5EF4-FFF2-40B4-BE49-F238E27FC236}">
                <a16:creationId xmlns:a16="http://schemas.microsoft.com/office/drawing/2014/main" id="{3DB15712-AC45-4450-20F3-70C5E43A6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21920"/>
            <a:ext cx="11216640" cy="792480"/>
          </a:xfrm>
          <a:prstGeom prst="rect">
            <a:avLst/>
          </a:prstGeom>
          <a:noFill/>
          <a:ln/>
        </p:spPr>
        <p:txBody>
          <a:bodyPr wrap="square" lIns="0" tIns="0" rIns="0" bIns="0" rtlCol="0" anchor="ctr"/>
          <a:lstStyle/>
          <a:p>
            <a:r>
              <a:rPr lang="en-US" sz="3467" b="1" dirty="0">
                <a:latin typeface="Calibri" pitchFamily="34" charset="0"/>
                <a:ea typeface="Calibri" pitchFamily="34" charset="-122"/>
                <a:cs typeface="Calibri" pitchFamily="34" charset="-120"/>
              </a:rPr>
              <a:t>Recommendations Summary</a:t>
            </a:r>
            <a:endParaRPr lang="en-US" sz="3467" dirty="0"/>
          </a:p>
        </p:txBody>
      </p:sp>
      <p:sp>
        <p:nvSpPr>
          <p:cNvPr id="4" name="Text 2"/>
          <p:cNvSpPr/>
          <p:nvPr/>
        </p:nvSpPr>
        <p:spPr>
          <a:xfrm>
            <a:off x="609600" y="1280160"/>
            <a:ext cx="10972800" cy="792480"/>
          </a:xfrm>
          <a:prstGeom prst="rect">
            <a:avLst/>
          </a:prstGeom>
          <a:noFill/>
          <a:ln/>
        </p:spPr>
        <p:txBody>
          <a:bodyPr wrap="square" lIns="0" tIns="0" rIns="0" bIns="0" rtlCol="0" anchor="ctr"/>
          <a:lstStyle/>
          <a:p>
            <a:r>
              <a:rPr lang="en-US" sz="2400" i="1" dirty="0">
                <a:latin typeface="Calibri" pitchFamily="34" charset="0"/>
                <a:ea typeface="Calibri" pitchFamily="34" charset="-122"/>
                <a:cs typeface="Calibri" pitchFamily="34" charset="-120"/>
              </a:rPr>
              <a:t>For most OCI use cases, the native OCI API Gateway is the clear recommendation.</a:t>
            </a:r>
            <a:endParaRPr lang="en-US" sz="2400" dirty="0"/>
          </a:p>
        </p:txBody>
      </p:sp>
      <p:sp>
        <p:nvSpPr>
          <p:cNvPr id="5" name="Shape 3"/>
          <p:cNvSpPr/>
          <p:nvPr/>
        </p:nvSpPr>
        <p:spPr>
          <a:xfrm>
            <a:off x="609600" y="2304288"/>
            <a:ext cx="426720" cy="426720"/>
          </a:xfrm>
          <a:prstGeom prst="ellipse">
            <a:avLst/>
          </a:prstGeom>
          <a:solidFill>
            <a:srgbClr val="1C7293"/>
          </a:solidFill>
          <a:ln/>
        </p:spPr>
      </p:sp>
      <p:sp>
        <p:nvSpPr>
          <p:cNvPr id="6" name="Text 4"/>
          <p:cNvSpPr/>
          <p:nvPr/>
        </p:nvSpPr>
        <p:spPr>
          <a:xfrm>
            <a:off x="609600" y="230428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7" name="Text 5"/>
          <p:cNvSpPr/>
          <p:nvPr/>
        </p:nvSpPr>
        <p:spPr>
          <a:xfrm>
            <a:off x="1219200" y="225552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Serverless — zero infrastructure to manage</a:t>
            </a:r>
            <a:endParaRPr lang="en-US" sz="2000" dirty="0"/>
          </a:p>
        </p:txBody>
      </p:sp>
      <p:sp>
        <p:nvSpPr>
          <p:cNvPr id="8" name="Shape 6"/>
          <p:cNvSpPr/>
          <p:nvPr/>
        </p:nvSpPr>
        <p:spPr>
          <a:xfrm>
            <a:off x="609600" y="2974848"/>
            <a:ext cx="426720" cy="426720"/>
          </a:xfrm>
          <a:prstGeom prst="ellipse">
            <a:avLst/>
          </a:prstGeom>
          <a:solidFill>
            <a:srgbClr val="1C7293"/>
          </a:solidFill>
          <a:ln/>
        </p:spPr>
      </p:sp>
      <p:sp>
        <p:nvSpPr>
          <p:cNvPr id="9" name="Text 7"/>
          <p:cNvSpPr/>
          <p:nvPr/>
        </p:nvSpPr>
        <p:spPr>
          <a:xfrm>
            <a:off x="609600" y="297484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10" name="Text 8"/>
          <p:cNvSpPr/>
          <p:nvPr/>
        </p:nvSpPr>
        <p:spPr>
          <a:xfrm>
            <a:off x="1219200" y="292608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Deep OCI integration out of the box</a:t>
            </a:r>
            <a:endParaRPr lang="en-US" sz="2000" dirty="0"/>
          </a:p>
        </p:txBody>
      </p:sp>
      <p:sp>
        <p:nvSpPr>
          <p:cNvPr id="11" name="Shape 9"/>
          <p:cNvSpPr/>
          <p:nvPr/>
        </p:nvSpPr>
        <p:spPr>
          <a:xfrm>
            <a:off x="609600" y="3645408"/>
            <a:ext cx="426720" cy="426720"/>
          </a:xfrm>
          <a:prstGeom prst="ellipse">
            <a:avLst/>
          </a:prstGeom>
          <a:solidFill>
            <a:srgbClr val="1C7293"/>
          </a:solidFill>
          <a:ln/>
        </p:spPr>
      </p:sp>
      <p:sp>
        <p:nvSpPr>
          <p:cNvPr id="12" name="Text 10"/>
          <p:cNvSpPr/>
          <p:nvPr/>
        </p:nvSpPr>
        <p:spPr>
          <a:xfrm>
            <a:off x="609600" y="364540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13" name="Text 11"/>
          <p:cNvSpPr/>
          <p:nvPr/>
        </p:nvSpPr>
        <p:spPr>
          <a:xfrm>
            <a:off x="1219200" y="359664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Pair with OCI Functions for custom authorizers &amp; logic</a:t>
            </a:r>
            <a:endParaRPr lang="en-US" sz="2000" dirty="0"/>
          </a:p>
        </p:txBody>
      </p:sp>
      <p:sp>
        <p:nvSpPr>
          <p:cNvPr id="14" name="Shape 12"/>
          <p:cNvSpPr/>
          <p:nvPr/>
        </p:nvSpPr>
        <p:spPr>
          <a:xfrm>
            <a:off x="609600" y="4315968"/>
            <a:ext cx="426720" cy="426720"/>
          </a:xfrm>
          <a:prstGeom prst="ellipse">
            <a:avLst/>
          </a:prstGeom>
          <a:solidFill>
            <a:srgbClr val="1C7293"/>
          </a:solidFill>
          <a:ln/>
        </p:spPr>
      </p:sp>
      <p:sp>
        <p:nvSpPr>
          <p:cNvPr id="15" name="Text 13"/>
          <p:cNvSpPr/>
          <p:nvPr/>
        </p:nvSpPr>
        <p:spPr>
          <a:xfrm>
            <a:off x="609600" y="431596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16" name="Text 14"/>
          <p:cNvSpPr/>
          <p:nvPr/>
        </p:nvSpPr>
        <p:spPr>
          <a:xfrm>
            <a:off x="1219200" y="426720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Pair with OCI IAM / IDCS for enterprise identity</a:t>
            </a:r>
            <a:endParaRPr lang="en-US" sz="2000" dirty="0"/>
          </a:p>
        </p:txBody>
      </p:sp>
      <p:sp>
        <p:nvSpPr>
          <p:cNvPr id="17" name="Shape 15"/>
          <p:cNvSpPr/>
          <p:nvPr/>
        </p:nvSpPr>
        <p:spPr>
          <a:xfrm>
            <a:off x="609600" y="4986528"/>
            <a:ext cx="426720" cy="426720"/>
          </a:xfrm>
          <a:prstGeom prst="ellipse">
            <a:avLst/>
          </a:prstGeom>
          <a:solidFill>
            <a:srgbClr val="1C7293"/>
          </a:solidFill>
          <a:ln/>
        </p:spPr>
      </p:sp>
      <p:sp>
        <p:nvSpPr>
          <p:cNvPr id="18" name="Text 16"/>
          <p:cNvSpPr/>
          <p:nvPr/>
        </p:nvSpPr>
        <p:spPr>
          <a:xfrm>
            <a:off x="609600" y="498652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19" name="Text 17"/>
          <p:cNvSpPr/>
          <p:nvPr/>
        </p:nvSpPr>
        <p:spPr>
          <a:xfrm>
            <a:off x="1219200" y="493776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Scale to production traffic automatically</a:t>
            </a:r>
            <a:endParaRPr lang="en-US" sz="2000" dirty="0"/>
          </a:p>
        </p:txBody>
      </p:sp>
      <p:sp>
        <p:nvSpPr>
          <p:cNvPr id="20" name="Shape 18"/>
          <p:cNvSpPr/>
          <p:nvPr/>
        </p:nvSpPr>
        <p:spPr>
          <a:xfrm>
            <a:off x="609600" y="5657088"/>
            <a:ext cx="426720" cy="426720"/>
          </a:xfrm>
          <a:prstGeom prst="ellipse">
            <a:avLst/>
          </a:prstGeom>
          <a:solidFill>
            <a:srgbClr val="1C7293"/>
          </a:solidFill>
          <a:ln/>
        </p:spPr>
      </p:sp>
      <p:sp>
        <p:nvSpPr>
          <p:cNvPr id="21" name="Text 19"/>
          <p:cNvSpPr/>
          <p:nvPr/>
        </p:nvSpPr>
        <p:spPr>
          <a:xfrm>
            <a:off x="609600" y="5657088"/>
            <a:ext cx="426720" cy="426720"/>
          </a:xfrm>
          <a:prstGeom prst="rect">
            <a:avLst/>
          </a:prstGeom>
          <a:noFill/>
          <a:ln/>
        </p:spPr>
        <p:txBody>
          <a:bodyPr wrap="square" lIns="0" tIns="0" rIns="0" bIns="0" rtlCol="0" anchor="ctr"/>
          <a:lstStyle/>
          <a:p>
            <a:pPr algn="ctr"/>
            <a:r>
              <a:rPr lang="en-US" sz="2000" dirty="0">
                <a:solidFill>
                  <a:schemeClr val="bg1"/>
                </a:solidFill>
              </a:rPr>
              <a:t>✓</a:t>
            </a:r>
          </a:p>
        </p:txBody>
      </p:sp>
      <p:sp>
        <p:nvSpPr>
          <p:cNvPr id="22" name="Text 20"/>
          <p:cNvSpPr/>
          <p:nvPr/>
        </p:nvSpPr>
        <p:spPr>
          <a:xfrm>
            <a:off x="1219200" y="5608320"/>
            <a:ext cx="10363200" cy="548640"/>
          </a:xfrm>
          <a:prstGeom prst="rect">
            <a:avLst/>
          </a:prstGeom>
          <a:noFill/>
          <a:ln/>
        </p:spPr>
        <p:txBody>
          <a:bodyPr wrap="square" lIns="0" tIns="0" rIns="0" bIns="0" rtlCol="0" anchor="ctr"/>
          <a:lstStyle/>
          <a:p>
            <a:r>
              <a:rPr lang="en-US" sz="2000" dirty="0">
                <a:latin typeface="Calibri" pitchFamily="34" charset="0"/>
                <a:ea typeface="Calibri" pitchFamily="34" charset="-122"/>
                <a:cs typeface="Calibri" pitchFamily="34" charset="-120"/>
              </a:rPr>
              <a:t>Use Usage Plans to control and monetize API access</a:t>
            </a:r>
            <a:endParaRPr lang="en-US" sz="2000" dirty="0"/>
          </a:p>
        </p:txBody>
      </p:sp>
      <p:sp>
        <p:nvSpPr>
          <p:cNvPr id="23" name="Shape 21"/>
          <p:cNvSpPr/>
          <p:nvPr/>
        </p:nvSpPr>
        <p:spPr>
          <a:xfrm>
            <a:off x="0" y="6217920"/>
            <a:ext cx="12192000" cy="640080"/>
          </a:xfrm>
          <a:prstGeom prst="rect">
            <a:avLst/>
          </a:prstGeom>
          <a:solidFill>
            <a:srgbClr val="1C7293"/>
          </a:solidFill>
          <a:ln/>
        </p:spPr>
      </p:sp>
      <p:sp>
        <p:nvSpPr>
          <p:cNvPr id="24" name="Text 22"/>
          <p:cNvSpPr/>
          <p:nvPr/>
        </p:nvSpPr>
        <p:spPr>
          <a:xfrm>
            <a:off x="487680" y="6278880"/>
            <a:ext cx="11216640" cy="512064"/>
          </a:xfrm>
          <a:prstGeom prst="rect">
            <a:avLst/>
          </a:prstGeom>
          <a:noFill/>
          <a:ln/>
        </p:spPr>
        <p:txBody>
          <a:bodyPr wrap="square" lIns="0" tIns="0" rIns="0" bIns="0" rtlCol="0" anchor="ctr"/>
          <a:lstStyle/>
          <a:p>
            <a:pPr algn="ctr"/>
            <a:r>
              <a:rPr lang="en-US" sz="1600" dirty="0">
                <a:solidFill>
                  <a:srgbClr val="CCEEFF"/>
                </a:solidFill>
                <a:latin typeface="Calibri" pitchFamily="34" charset="0"/>
                <a:ea typeface="Calibri" pitchFamily="34" charset="-122"/>
                <a:cs typeface="Calibri" pitchFamily="34" charset="-120"/>
              </a:rPr>
              <a:t>OCI API Gateway  |  Recommended API Management Platform on Oracle Cloud</a:t>
            </a:r>
            <a:endParaRPr lang="en-US" sz="1600" dirty="0"/>
          </a:p>
        </p:txBody>
      </p:sp>
      <p:pic>
        <p:nvPicPr>
          <p:cNvPr id="25" name="Picture 2">
            <a:extLst>
              <a:ext uri="{FF2B5EF4-FFF2-40B4-BE49-F238E27FC236}">
                <a16:creationId xmlns:a16="http://schemas.microsoft.com/office/drawing/2014/main" id="{29E9E251-FF92-2567-EE11-3628D9F6C1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2427" y="2106167"/>
            <a:ext cx="4532853" cy="39776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white and blue logo&#10;&#10;AI-generated content may be incorrect.">
            <a:extLst>
              <a:ext uri="{FF2B5EF4-FFF2-40B4-BE49-F238E27FC236}">
                <a16:creationId xmlns:a16="http://schemas.microsoft.com/office/drawing/2014/main" id="{08A72E5E-3D1D-7A0B-1F47-E397C41EA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5426FF-AB35-9784-1CFA-B19E582C9A18}"/>
              </a:ext>
            </a:extLst>
          </p:cNvPr>
          <p:cNvSpPr>
            <a:spLocks noGrp="1"/>
          </p:cNvSpPr>
          <p:nvPr>
            <p:ph sz="quarter" idx="13"/>
          </p:nvPr>
        </p:nvSpPr>
        <p:spPr>
          <a:xfrm>
            <a:off x="771525" y="1600200"/>
            <a:ext cx="11261993" cy="4507992"/>
          </a:xfrm>
        </p:spPr>
        <p:txBody>
          <a:bodyPr/>
          <a:lstStyle/>
          <a:p>
            <a:r>
              <a:rPr lang="en-US" b="1" dirty="0"/>
              <a:t>Product Capabilities</a:t>
            </a:r>
          </a:p>
          <a:p>
            <a:r>
              <a:rPr lang="en-US" dirty="0"/>
              <a:t>🔗 </a:t>
            </a:r>
            <a:r>
              <a:rPr lang="en-US" dirty="0" err="1">
                <a:hlinkClick r:id="rId2"/>
              </a:rPr>
              <a:t>OverviewOracle's</a:t>
            </a:r>
            <a:r>
              <a:rPr lang="en-US" dirty="0">
                <a:hlinkClick r:id="rId2"/>
              </a:rPr>
              <a:t> primary documentation covering the service overview, IAM integration, and capabilities</a:t>
            </a:r>
            <a:r>
              <a:rPr lang="en-US" dirty="0"/>
              <a:t>.</a:t>
            </a:r>
          </a:p>
          <a:p>
            <a:r>
              <a:rPr lang="en-US" dirty="0"/>
              <a:t>🔗 </a:t>
            </a:r>
            <a:r>
              <a:rPr lang="en-US" dirty="0" err="1">
                <a:hlinkClick r:id="rId3"/>
              </a:rPr>
              <a:t>HomeThe</a:t>
            </a:r>
            <a:r>
              <a:rPr lang="en-US" dirty="0">
                <a:hlinkClick r:id="rId3"/>
              </a:rPr>
              <a:t> top-level documentation hub for the API Gateway service</a:t>
            </a:r>
            <a:r>
              <a:rPr lang="en-US" dirty="0"/>
              <a:t>.</a:t>
            </a:r>
          </a:p>
          <a:p>
            <a:r>
              <a:rPr lang="en-US" dirty="0"/>
              <a:t>🔗 </a:t>
            </a:r>
            <a:r>
              <a:rPr lang="en-US" dirty="0" err="1">
                <a:hlinkClick r:id="rId4"/>
              </a:rPr>
              <a:t>ConceptsCovers</a:t>
            </a:r>
            <a:r>
              <a:rPr lang="en-US" dirty="0">
                <a:hlinkClick r:id="rId4"/>
              </a:rPr>
              <a:t> public vs. private gateways, usage plans, rate limits, quotas, subscribers, and entitlements</a:t>
            </a:r>
            <a:r>
              <a:rPr lang="en-US" dirty="0"/>
              <a:t>.</a:t>
            </a:r>
          </a:p>
          <a:p>
            <a:r>
              <a:rPr lang="en-US" dirty="0"/>
              <a:t>🔗 </a:t>
            </a:r>
            <a:r>
              <a:rPr lang="en-US" dirty="0">
                <a:hlinkClick r:id="rId5"/>
              </a:rPr>
              <a:t>Creating an API </a:t>
            </a:r>
            <a:r>
              <a:rPr lang="en-US" dirty="0" err="1">
                <a:hlinkClick r:id="rId5"/>
              </a:rPr>
              <a:t>GatewayStep</a:t>
            </a:r>
            <a:r>
              <a:rPr lang="en-US" dirty="0">
                <a:hlinkClick r:id="rId5"/>
              </a:rPr>
              <a:t>-by-step guide for creating public and private gateways via CLI and Console.</a:t>
            </a:r>
            <a:endParaRPr lang="en-US" dirty="0"/>
          </a:p>
          <a:p>
            <a:r>
              <a:rPr lang="en-US" dirty="0"/>
              <a:t>🔗 </a:t>
            </a:r>
            <a:r>
              <a:rPr lang="en-US" dirty="0">
                <a:hlinkClick r:id="rId6"/>
              </a:rPr>
              <a:t>Limiting the Number of Requests to API Gateway Back </a:t>
            </a:r>
            <a:r>
              <a:rPr lang="en-US" dirty="0" err="1">
                <a:hlinkClick r:id="rId6"/>
              </a:rPr>
              <a:t>EndsOfficial</a:t>
            </a:r>
            <a:r>
              <a:rPr lang="en-US" dirty="0">
                <a:hlinkClick r:id="rId6"/>
              </a:rPr>
              <a:t> documentation on rate limiting policies. </a:t>
            </a:r>
            <a:endParaRPr lang="en-US" dirty="0"/>
          </a:p>
          <a:p>
            <a:r>
              <a:rPr lang="en-US" dirty="0"/>
              <a:t>🔗 </a:t>
            </a:r>
            <a:r>
              <a:rPr lang="en-US" dirty="0">
                <a:hlinkClick r:id="rId7"/>
              </a:rPr>
              <a:t>OCI API Gateway - Release Notes History of features including JWT auth, OCI Certificates integration, response caching, CORS, and Usage Plans.</a:t>
            </a:r>
            <a:endParaRPr lang="en-US" dirty="0"/>
          </a:p>
          <a:p>
            <a:endParaRPr lang="en-US" b="1" dirty="0"/>
          </a:p>
          <a:p>
            <a:r>
              <a:rPr lang="en-US" b="1" dirty="0"/>
              <a:t>Reference Architectures</a:t>
            </a:r>
          </a:p>
          <a:p>
            <a:r>
              <a:rPr lang="en-US" dirty="0">
                <a:hlinkClick r:id="rId8"/>
              </a:rPr>
              <a:t>🔗OCI API </a:t>
            </a:r>
            <a:r>
              <a:rPr lang="en-US" dirty="0" err="1">
                <a:hlinkClick r:id="rId8"/>
              </a:rPr>
              <a:t>GatewayOracle</a:t>
            </a:r>
            <a:r>
              <a:rPr lang="en-US" dirty="0">
                <a:hlinkClick r:id="rId8"/>
              </a:rPr>
              <a:t> reference architecture for connecting multi-cloud microservices via API Gateway.</a:t>
            </a:r>
            <a:endParaRPr lang="en-US" dirty="0"/>
          </a:p>
          <a:p>
            <a:r>
              <a:rPr lang="en-US" dirty="0"/>
              <a:t>🔗 </a:t>
            </a:r>
            <a:r>
              <a:rPr lang="en-US" dirty="0">
                <a:hlinkClick r:id="rId9"/>
              </a:rPr>
              <a:t>Disaster Recovery Reference Architecture — OCI API Gateway Covers HA, cross-region DR, NSGs, Security Lists, and deployment synchronization</a:t>
            </a:r>
            <a:r>
              <a:rPr lang="en-US" dirty="0"/>
              <a:t>.</a:t>
            </a:r>
          </a:p>
          <a:p>
            <a:r>
              <a:rPr lang="en-US" dirty="0"/>
              <a:t> </a:t>
            </a:r>
          </a:p>
        </p:txBody>
      </p:sp>
      <p:sp>
        <p:nvSpPr>
          <p:cNvPr id="3" name="Title 2">
            <a:extLst>
              <a:ext uri="{FF2B5EF4-FFF2-40B4-BE49-F238E27FC236}">
                <a16:creationId xmlns:a16="http://schemas.microsoft.com/office/drawing/2014/main" id="{98E1E6C7-D493-76F5-0A66-6B2A255A26D8}"/>
              </a:ext>
            </a:extLst>
          </p:cNvPr>
          <p:cNvSpPr>
            <a:spLocks noGrp="1"/>
          </p:cNvSpPr>
          <p:nvPr>
            <p:ph type="title"/>
          </p:nvPr>
        </p:nvSpPr>
        <p:spPr/>
        <p:txBody>
          <a:bodyPr/>
          <a:lstStyle/>
          <a:p>
            <a:r>
              <a:rPr lang="en-US" dirty="0"/>
              <a:t>References</a:t>
            </a:r>
          </a:p>
        </p:txBody>
      </p:sp>
      <p:sp>
        <p:nvSpPr>
          <p:cNvPr id="4" name="Date Placeholder 3">
            <a:extLst>
              <a:ext uri="{FF2B5EF4-FFF2-40B4-BE49-F238E27FC236}">
                <a16:creationId xmlns:a16="http://schemas.microsoft.com/office/drawing/2014/main" id="{E9E6576F-C589-AD79-EB02-80B3D583D9AA}"/>
              </a:ext>
            </a:extLst>
          </p:cNvPr>
          <p:cNvSpPr>
            <a:spLocks noGrp="1"/>
          </p:cNvSpPr>
          <p:nvPr>
            <p:ph type="dt" sz="half" idx="14"/>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4C9D7C32-EAB1-EB28-8963-C93C52596996}"/>
              </a:ext>
            </a:extLst>
          </p:cNvPr>
          <p:cNvSpPr>
            <a:spLocks noGrp="1"/>
          </p:cNvSpPr>
          <p:nvPr>
            <p:ph type="ftr" sz="quarter" idx="15"/>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7B160AE4-3DC7-31EB-ABA0-F91A7BC7961B}"/>
              </a:ext>
            </a:extLst>
          </p:cNvPr>
          <p:cNvSpPr>
            <a:spLocks noGrp="1"/>
          </p:cNvSpPr>
          <p:nvPr>
            <p:ph type="sldNum" sz="quarter" idx="16"/>
          </p:nvPr>
        </p:nvSpPr>
        <p:spPr/>
        <p:txBody>
          <a:bodyPr/>
          <a:lstStyle/>
          <a:p>
            <a:fld id="{345D60D9-5372-5F40-9443-0F9AE5BDC3C8}" type="slidenum">
              <a:rPr lang="en-US" smtClean="0"/>
              <a:pPr/>
              <a:t>9</a:t>
            </a:fld>
            <a:endParaRPr lang="en-US" dirty="0"/>
          </a:p>
        </p:txBody>
      </p:sp>
      <p:pic>
        <p:nvPicPr>
          <p:cNvPr id="7" name="Picture 6" descr="A white and blue logo&#10;&#10;AI-generated content may be incorrect.">
            <a:extLst>
              <a:ext uri="{FF2B5EF4-FFF2-40B4-BE49-F238E27FC236}">
                <a16:creationId xmlns:a16="http://schemas.microsoft.com/office/drawing/2014/main" id="{DBC55ED3-054A-CB84-B98C-57DD48A29D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69881" y="159551"/>
            <a:ext cx="812519" cy="831415"/>
          </a:xfrm>
          <a:prstGeom prst="rect">
            <a:avLst/>
          </a:prstGeom>
        </p:spPr>
      </p:pic>
      <p:pic>
        <p:nvPicPr>
          <p:cNvPr id="8" name="Picture 2" descr="Oracle Joins Continuous Delivery Foundation - CD Foundation">
            <a:extLst>
              <a:ext uri="{FF2B5EF4-FFF2-40B4-BE49-F238E27FC236}">
                <a16:creationId xmlns:a16="http://schemas.microsoft.com/office/drawing/2014/main" id="{58078604-D433-8F1C-5834-A8C1EC3C144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78608" y="381560"/>
            <a:ext cx="1090060" cy="62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33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00AB-D727-EA48-8A56-C323EF169337}"/>
              </a:ext>
            </a:extLst>
          </p:cNvPr>
          <p:cNvSpPr>
            <a:spLocks noGrp="1"/>
          </p:cNvSpPr>
          <p:nvPr>
            <p:ph type="title"/>
          </p:nvPr>
        </p:nvSpPr>
        <p:spPr/>
        <p:txBody>
          <a:bodyPr/>
          <a:lstStyle/>
          <a:p>
            <a:r>
              <a:rPr lang="en-US" dirty="0"/>
              <a:t>Learn more</a:t>
            </a:r>
          </a:p>
        </p:txBody>
      </p:sp>
      <p:sp>
        <p:nvSpPr>
          <p:cNvPr id="3" name="Text Placeholder 2">
            <a:extLst>
              <a:ext uri="{FF2B5EF4-FFF2-40B4-BE49-F238E27FC236}">
                <a16:creationId xmlns:a16="http://schemas.microsoft.com/office/drawing/2014/main" id="{693311D5-8DFA-C743-93D5-491DC8E9EB1D}"/>
              </a:ext>
            </a:extLst>
          </p:cNvPr>
          <p:cNvSpPr>
            <a:spLocks noGrp="1"/>
          </p:cNvSpPr>
          <p:nvPr>
            <p:ph type="body" idx="1"/>
          </p:nvPr>
        </p:nvSpPr>
        <p:spPr>
          <a:xfrm>
            <a:off x="762000" y="5928787"/>
            <a:ext cx="9887835" cy="365760"/>
          </a:xfrm>
        </p:spPr>
        <p:txBody>
          <a:bodyPr/>
          <a:lstStyle/>
          <a:p>
            <a:pPr marL="285750" indent="-285750">
              <a:buFont typeface="Arial" panose="020B0604020202020204" pitchFamily="34" charset="0"/>
              <a:buChar char="•"/>
            </a:pPr>
            <a:r>
              <a:rPr lang="en-US" dirty="0"/>
              <a:t>Visit </a:t>
            </a:r>
            <a:r>
              <a:rPr lang="en-US" dirty="0">
                <a:hlinkClick r:id="rId3"/>
              </a:rPr>
              <a:t>OCI API Management</a:t>
            </a:r>
            <a:r>
              <a:rPr lang="en-US" dirty="0"/>
              <a:t> </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CF8128F9-8A79-FF4A-A46A-95524692591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8580"/>
                </a:solidFill>
                <a:effectLst/>
                <a:uLnTx/>
                <a:uFillTx/>
                <a:latin typeface="Oracle Sans"/>
                <a:ea typeface="+mn-ea"/>
                <a:cs typeface="+mn-cs"/>
              </a:rPr>
              <a:t>Copyright © 2025, Oracle and/or its affiliates</a:t>
            </a:r>
          </a:p>
        </p:txBody>
      </p:sp>
      <p:sp>
        <p:nvSpPr>
          <p:cNvPr id="5" name="Slide Number Placeholder 4">
            <a:extLst>
              <a:ext uri="{FF2B5EF4-FFF2-40B4-BE49-F238E27FC236}">
                <a16:creationId xmlns:a16="http://schemas.microsoft.com/office/drawing/2014/main" id="{04ECE854-C03F-2F44-B2B3-298B10F6523C}"/>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371504-33D9-B044-8C50-620C44A06CB1}" type="slidenum">
              <a:rPr kumimoji="0" lang="en-US" sz="1000" b="0" i="0" u="none" strike="noStrike" kern="1200" cap="none" spc="0" normalizeH="0" baseline="0" noProof="0" smtClean="0">
                <a:ln>
                  <a:noFill/>
                </a:ln>
                <a:solidFill>
                  <a:srgbClr val="8B8580"/>
                </a:solidFill>
                <a:effectLst/>
                <a:uLnTx/>
                <a:uFillTx/>
                <a:latin typeface="Oracle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srgbClr val="8B8580"/>
              </a:solidFill>
              <a:effectLst/>
              <a:uLnTx/>
              <a:uFillTx/>
              <a:latin typeface="Oracle Sans"/>
              <a:ea typeface="+mn-ea"/>
              <a:cs typeface="+mn-cs"/>
            </a:endParaRPr>
          </a:p>
        </p:txBody>
      </p:sp>
      <p:pic>
        <p:nvPicPr>
          <p:cNvPr id="9" name="Picture 8">
            <a:extLst>
              <a:ext uri="{FF2B5EF4-FFF2-40B4-BE49-F238E27FC236}">
                <a16:creationId xmlns:a16="http://schemas.microsoft.com/office/drawing/2014/main" id="{B6126A49-1C23-3F0A-9B6D-E3A07D490DC6}"/>
              </a:ext>
            </a:extLst>
          </p:cNvPr>
          <p:cNvPicPr>
            <a:picLocks noChangeAspect="1"/>
          </p:cNvPicPr>
          <p:nvPr/>
        </p:nvPicPr>
        <p:blipFill>
          <a:blip r:embed="rId4"/>
          <a:stretch>
            <a:fillRect/>
          </a:stretch>
        </p:blipFill>
        <p:spPr>
          <a:xfrm>
            <a:off x="5260720" y="0"/>
            <a:ext cx="6964014" cy="6858000"/>
          </a:xfrm>
          <a:prstGeom prst="rect">
            <a:avLst/>
          </a:prstGeom>
        </p:spPr>
      </p:pic>
    </p:spTree>
    <p:extLst>
      <p:ext uri="{BB962C8B-B14F-4D97-AF65-F5344CB8AC3E}">
        <p14:creationId xmlns:p14="http://schemas.microsoft.com/office/powerpoint/2010/main" val="241626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CA8604-E0CD-4C95-8EAF-3E4531F4806C}"/>
              </a:ext>
            </a:extLst>
          </p:cNvPr>
          <p:cNvSpPr>
            <a:spLocks noGrp="1"/>
          </p:cNvSpPr>
          <p:nvPr>
            <p:ph type="title"/>
          </p:nvPr>
        </p:nvSpPr>
        <p:spPr/>
        <p:txBody>
          <a:bodyPr/>
          <a:lstStyle/>
          <a:p>
            <a:r>
              <a:rPr lang="en-US" dirty="0"/>
              <a:t>Thank you</a:t>
            </a:r>
          </a:p>
        </p:txBody>
      </p:sp>
      <p:sp>
        <p:nvSpPr>
          <p:cNvPr id="5" name="Date Placeholder 4">
            <a:extLst>
              <a:ext uri="{FF2B5EF4-FFF2-40B4-BE49-F238E27FC236}">
                <a16:creationId xmlns:a16="http://schemas.microsoft.com/office/drawing/2014/main" id="{DEF8AD19-9D8C-4C45-8733-4D57E72A2CD4}"/>
              </a:ext>
            </a:extLst>
          </p:cNvPr>
          <p:cNvSpPr>
            <a:spLocks noGrp="1"/>
          </p:cNvSpPr>
          <p:nvPr>
            <p:ph type="dt" sz="half" idx="38"/>
          </p:nvPr>
        </p:nvSpPr>
        <p:spPr/>
        <p:txBody>
          <a:bodyPr/>
          <a:lstStyle/>
          <a:p>
            <a:r>
              <a:rPr lang="en-US" dirty="0"/>
              <a:t>[July 2025]</a:t>
            </a:r>
          </a:p>
        </p:txBody>
      </p:sp>
      <p:sp>
        <p:nvSpPr>
          <p:cNvPr id="6" name="Footer Placeholder 5">
            <a:extLst>
              <a:ext uri="{FF2B5EF4-FFF2-40B4-BE49-F238E27FC236}">
                <a16:creationId xmlns:a16="http://schemas.microsoft.com/office/drawing/2014/main" id="{9BBCE16F-4A58-4C9B-8327-1DE2BDFE8B99}"/>
              </a:ext>
            </a:extLst>
          </p:cNvPr>
          <p:cNvSpPr>
            <a:spLocks noGrp="1"/>
          </p:cNvSpPr>
          <p:nvPr>
            <p:ph type="ftr" sz="quarter" idx="3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F4552861-DBFC-4334-824A-1E13314F041F}"/>
              </a:ext>
            </a:extLst>
          </p:cNvPr>
          <p:cNvSpPr>
            <a:spLocks noGrp="1"/>
          </p:cNvSpPr>
          <p:nvPr>
            <p:ph type="sldNum" sz="quarter" idx="40"/>
          </p:nvPr>
        </p:nvSpPr>
        <p:spPr/>
        <p:txBody>
          <a:bodyPr/>
          <a:lstStyle/>
          <a:p>
            <a:fld id="{345D60D9-5372-5F40-9443-0F9AE5BDC3C8}" type="slidenum">
              <a:rPr lang="en-US" smtClean="0"/>
              <a:pPr/>
              <a:t>11</a:t>
            </a:fld>
            <a:endParaRPr lang="en-US" dirty="0"/>
          </a:p>
        </p:txBody>
      </p:sp>
    </p:spTree>
    <p:extLst>
      <p:ext uri="{BB962C8B-B14F-4D97-AF65-F5344CB8AC3E}">
        <p14:creationId xmlns:p14="http://schemas.microsoft.com/office/powerpoint/2010/main" val="106014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25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
</file>

<file path=ppt/theme/theme1.xml><?xml version="1.0" encoding="utf-8"?>
<a:theme xmlns:a="http://schemas.openxmlformats.org/drawingml/2006/main" name="Parent Master Pillars">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Redwood Modern v1.2" id="{91D5594C-572C-3D46-8656-1C1959C7DC0F}" vid="{79831EF4-9A9E-1944-869B-2008F807A50B}"/>
    </a:ext>
  </a:extLst>
</a:theme>
</file>

<file path=ppt/theme/theme2.xml><?xml version="1.0" encoding="utf-8"?>
<a:theme xmlns:a="http://schemas.openxmlformats.org/drawingml/2006/main" name="1_Parent Master Pillars">
  <a:themeElements>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1EFED"/>
        </a:solidFill>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R="0" algn="l" defTabSz="914400" rtl="0" eaLnBrk="1" fontAlgn="auto" latinLnBrk="0" hangingPunct="1">
          <a:lnSpc>
            <a:spcPct val="110000"/>
          </a:lnSpc>
          <a:spcBef>
            <a:spcPts val="0"/>
          </a:spcBef>
          <a:spcAft>
            <a:spcPts val="1200"/>
          </a:spcAft>
          <a:buClrTx/>
          <a:buSzTx/>
          <a:tabLst/>
          <a:defRPr kumimoji="0" sz="1400" b="0" i="0" u="none" strike="noStrike" kern="1200" cap="none" spc="0" normalizeH="0" baseline="0" noProof="0" dirty="0">
            <a:ln>
              <a:noFill/>
            </a:ln>
            <a:solidFill>
              <a:srgbClr val="000000"/>
            </a:solidFill>
            <a:effectLst/>
            <a:uLnTx/>
            <a:uFillTx/>
            <a:cs typeface="Arial" panose="020B0604020202020204" pitchFamily="34" charset="0"/>
          </a:defRPr>
        </a:defPPr>
      </a:lstStyle>
    </a:spDef>
    <a:txDef>
      <a:spPr/>
      <a:bodyPr wrap="square" lIns="0" tIns="0" rIns="0" bIns="0">
        <a:noAutofit/>
      </a:bodyPr>
      <a:lstStyle>
        <a:defPPr algn="l">
          <a:defRPr dirty="0"/>
        </a:defPPr>
      </a:lstStyle>
    </a:tx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ACD62"/>
    </a:custClr>
    <a:custClr name="Highlight/numbered list light theme">
      <a:srgbClr val="AE562C"/>
    </a:custClr>
    <a:custClr name="Hyperlink light theme (default)">
      <a:srgbClr val="2C5967"/>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Redwood Modern v1.2a.potx" id="{2DCB3DD6-FF32-4C5B-94C6-FEEEE0758C80}" vid="{10848349-FBFC-4443-B9C7-92936F04B5AC}"/>
    </a:ext>
  </a:extLst>
</a:theme>
</file>

<file path=ppt/theme/theme3.xml><?xml version="1.0" encoding="utf-8"?>
<a:theme xmlns:a="http://schemas.openxmlformats.org/drawingml/2006/main" name="Oracle 042821 Modern v1.1">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042821 Modern v1.1" id="{B6B88F1C-38D5-FD46-A72A-38E201A453FC}" vid="{8F717743-E7FC-DB42-860D-2F7964FD704C}"/>
    </a:ext>
  </a:extLst>
</a:theme>
</file>

<file path=ppt/theme/theme4.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ppt/theme/themeOverride2.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ppt/theme/themeOverride3.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Flow_SignoffStatus xmlns="73149256-34ff-44ac-bf26-39603c895ff6" xsi:nil="true"/>
    <lcf76f155ced4ddcb4097134ff3c332f xmlns="73149256-34ff-44ac-bf26-39603c895ff6">
      <Terms xmlns="http://schemas.microsoft.com/office/infopath/2007/PartnerControls"/>
    </lcf76f155ced4ddcb4097134ff3c332f>
    <_ip_UnifiedCompliancePolicyProperties xmlns="http://schemas.microsoft.com/sharepoint/v3" xsi:nil="true"/>
    <Tips xmlns="73149256-34ff-44ac-bf26-39603c895ff6" xsi:nil="true"/>
    <TaxCatchAll xmlns="91be1493-8498-4e91-b3ef-e8237501b9e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B7E067267C41E4F928072D31B235A1E" ma:contentTypeVersion="18" ma:contentTypeDescription="Create a new document." ma:contentTypeScope="" ma:versionID="3d28caa4f3cc9f722d8655fc559353c6">
  <xsd:schema xmlns:xsd="http://www.w3.org/2001/XMLSchema" xmlns:xs="http://www.w3.org/2001/XMLSchema" xmlns:p="http://schemas.microsoft.com/office/2006/metadata/properties" xmlns:ns1="http://schemas.microsoft.com/sharepoint/v3" xmlns:ns2="73149256-34ff-44ac-bf26-39603c895ff6" xmlns:ns3="91be1493-8498-4e91-b3ef-e8237501b9e6" targetNamespace="http://schemas.microsoft.com/office/2006/metadata/properties" ma:root="true" ma:fieldsID="9183f66b5e4d7332ae6d96fd234f4c76" ns1:_="" ns2:_="" ns3:_="">
    <xsd:import namespace="http://schemas.microsoft.com/sharepoint/v3"/>
    <xsd:import namespace="73149256-34ff-44ac-bf26-39603c895ff6"/>
    <xsd:import namespace="91be1493-8498-4e91-b3ef-e8237501b9e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MediaServiceObjectDetectorVersion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_Flow_SignoffStatus" minOccurs="0"/>
                <xsd:element ref="ns2:Tip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149256-34ff-44ac-bf26-39603c895f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4b6b08d2-6182-4197-8221-8710a9404ce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_Flow_SignoffStatus" ma:index="23" nillable="true" ma:displayName="Sign-off status" ma:internalName="_x0024_Resources_x003a_core_x002c_Signoff_Status">
      <xsd:simpleType>
        <xsd:restriction base="dms:Text"/>
      </xsd:simpleType>
    </xsd:element>
    <xsd:element name="Tips" ma:index="24" nillable="true" ma:displayName="Tips" ma:description="Tips to using sample app" ma:format="Dropdown" ma:internalName="Tips">
      <xsd:simpleType>
        <xsd:restriction base="dms:Note">
          <xsd:maxLength value="255"/>
        </xsd:restriction>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be1493-8498-4e91-b3ef-e8237501b9e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3e799d93-7d4e-4622-aa84-c920bf75f5da}" ma:internalName="TaxCatchAll" ma:showField="CatchAllData" ma:web="91be1493-8498-4e91-b3ef-e8237501b9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4B6083-9BD8-467B-9CB2-3E5BEF761437}">
  <ds:schemaRefs>
    <ds:schemaRef ds:uri="http://schemas.microsoft.com/office/2006/metadata/properties"/>
    <ds:schemaRef ds:uri="http://schemas.microsoft.com/office/infopath/2007/PartnerControls"/>
    <ds:schemaRef ds:uri="http://schemas.microsoft.com/sharepoint/v3"/>
    <ds:schemaRef ds:uri="73149256-34ff-44ac-bf26-39603c895ff6"/>
    <ds:schemaRef ds:uri="91be1493-8498-4e91-b3ef-e8237501b9e6"/>
  </ds:schemaRefs>
</ds:datastoreItem>
</file>

<file path=customXml/itemProps2.xml><?xml version="1.0" encoding="utf-8"?>
<ds:datastoreItem xmlns:ds="http://schemas.openxmlformats.org/officeDocument/2006/customXml" ds:itemID="{D4637B7B-8826-4138-90F6-38BACBBCDC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149256-34ff-44ac-bf26-39603c895ff6"/>
    <ds:schemaRef ds:uri="91be1493-8498-4e91-b3ef-e8237501b9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0A1DE50-E232-4091-AD17-383639D37D33}">
  <ds:schemaRefs>
    <ds:schemaRef ds:uri="http://schemas.microsoft.com/sharepoint/v3/contenttype/forms"/>
  </ds:schemaRefs>
</ds:datastoreItem>
</file>

<file path=docMetadata/LabelInfo.xml><?xml version="1.0" encoding="utf-8"?>
<clbl:labelList xmlns:clbl="http://schemas.microsoft.com/office/2020/mipLabelMetadata">
  <clbl:label id="{3c76ce46-357f-46de-88d6-77b9bbb83c46}" enabled="1" method="Privileged" siteId="{4e2c6054-71cb-48f1-bd6c-3a9705aca71b}" contentBits="0" removed="0"/>
</clbl:labelList>
</file>

<file path=docProps/app.xml><?xml version="1.0" encoding="utf-8"?>
<Properties xmlns="http://schemas.openxmlformats.org/officeDocument/2006/extended-properties" xmlns:vt="http://schemas.openxmlformats.org/officeDocument/2006/docPropsVTypes">
  <Template>Oracle Redwood Modern v1.1 2021-04-07</Template>
  <TotalTime>4359</TotalTime>
  <Words>760</Words>
  <Application>Microsoft Office PowerPoint</Application>
  <PresentationFormat>Widescreen</PresentationFormat>
  <Paragraphs>144</Paragraphs>
  <Slides>12</Slides>
  <Notes>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12</vt:i4>
      </vt:variant>
    </vt:vector>
  </HeadingPairs>
  <TitlesOfParts>
    <vt:vector size="24" baseType="lpstr">
      <vt:lpstr>Arial</vt:lpstr>
      <vt:lpstr>Calibri</vt:lpstr>
      <vt:lpstr>Georgia</vt:lpstr>
      <vt:lpstr>Oracle Sans</vt:lpstr>
      <vt:lpstr>Oracle Sans Light</vt:lpstr>
      <vt:lpstr>Oracle Sans Tab</vt:lpstr>
      <vt:lpstr>Oracle Sans Tab Light</vt:lpstr>
      <vt:lpstr>System Font Regular</vt:lpstr>
      <vt:lpstr>Visby CF Medium</vt:lpstr>
      <vt:lpstr>Parent Master Pillars</vt:lpstr>
      <vt:lpstr>1_Parent Master Pillars</vt:lpstr>
      <vt:lpstr>Oracle 042821 Modern v1.1</vt:lpstr>
      <vt:lpstr>OCI API Gateway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Learn more</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different about this template?</dc:title>
  <dc:creator>Valeria Chiran</dc:creator>
  <cp:lastModifiedBy>Peter Obert</cp:lastModifiedBy>
  <cp:revision>322</cp:revision>
  <dcterms:created xsi:type="dcterms:W3CDTF">2021-06-23T08:11:01Z</dcterms:created>
  <dcterms:modified xsi:type="dcterms:W3CDTF">2026-04-23T09:06:51Z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ClassificationContentMarkingFooterLocations">
    <vt:lpwstr>Parent Master Pillars:7\1_Parent Master Pillars:7\Oracle 042821 Modern v1.1:7</vt:lpwstr>
  </property>
  <property fmtid="{D5CDD505-2E9C-101B-9397-08002B2CF9AE}" pid="6" name="ClassificationContentMarkingFooterText">
    <vt:lpwstr>Confidential - Oracle Restricted</vt:lpwstr>
  </property>
  <property fmtid="{D5CDD505-2E9C-101B-9397-08002B2CF9AE}" pid="7" name="ClassificationContentMarkingHeaderLocations">
    <vt:lpwstr>Parent Master Pillars:6\1_Parent Master Pillars:6\Oracle 042821 Modern v1.1:6</vt:lpwstr>
  </property>
  <property fmtid="{D5CDD505-2E9C-101B-9397-08002B2CF9AE}" pid="8" name="ClassificationContentMarkingHeaderText">
    <vt:lpwstr>Confidential - Oracle Restricted</vt:lpwstr>
  </property>
  <property fmtid="{D5CDD505-2E9C-101B-9397-08002B2CF9AE}" pid="9" name="MSIP_Label_3c76ce46-357f-46de-88d6-77b9bbb83c46_Enabled">
    <vt:lpwstr>true</vt:lpwstr>
  </property>
  <property fmtid="{D5CDD505-2E9C-101B-9397-08002B2CF9AE}" pid="10" name="MSIP_Label_3c76ce46-357f-46de-88d6-77b9bbb83c46_SetDate">
    <vt:lpwstr>2025-09-16T12:05:25Z</vt:lpwstr>
  </property>
  <property fmtid="{D5CDD505-2E9C-101B-9397-08002B2CF9AE}" pid="11" name="MSIP_Label_3c76ce46-357f-46de-88d6-77b9bbb83c46_Method">
    <vt:lpwstr>Privileged</vt:lpwstr>
  </property>
  <property fmtid="{D5CDD505-2E9C-101B-9397-08002B2CF9AE}" pid="12" name="MSIP_Label_3c76ce46-357f-46de-88d6-77b9bbb83c46_Name">
    <vt:lpwstr>Public</vt:lpwstr>
  </property>
  <property fmtid="{D5CDD505-2E9C-101B-9397-08002B2CF9AE}" pid="13" name="MSIP_Label_3c76ce46-357f-46de-88d6-77b9bbb83c46_SiteId">
    <vt:lpwstr>4e2c6054-71cb-48f1-bd6c-3a9705aca71b</vt:lpwstr>
  </property>
  <property fmtid="{D5CDD505-2E9C-101B-9397-08002B2CF9AE}" pid="14" name="MSIP_Label_3c76ce46-357f-46de-88d6-77b9bbb83c46_ActionId">
    <vt:lpwstr>9fe2a875-2c3d-476c-8adc-9a5f5241ef14</vt:lpwstr>
  </property>
  <property fmtid="{D5CDD505-2E9C-101B-9397-08002B2CF9AE}" pid="15" name="MSIP_Label_3c76ce46-357f-46de-88d6-77b9bbb83c46_ContentBits">
    <vt:lpwstr>0</vt:lpwstr>
  </property>
  <property fmtid="{D5CDD505-2E9C-101B-9397-08002B2CF9AE}" pid="16" name="ContentTypeId">
    <vt:lpwstr>0x010100BB7E067267C41E4F928072D31B235A1E</vt:lpwstr>
  </property>
  <property fmtid="{D5CDD505-2E9C-101B-9397-08002B2CF9AE}" pid="17" name="MediaServiceImageTags">
    <vt:lpwstr/>
  </property>
</Properties>
</file>