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0972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Event-Driven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ADCFC"/>
                </a:solidFill>
                <a:latin typeface="Calibri"/>
              </a:rPr>
              <a:t>Oracle OCI + OIC  vs.  AWS EventBridge + DynamoDB Streams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3756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ADCFC"/>
                </a:solidFill>
                <a:latin typeface="Calibri"/>
              </a:rPr>
              <a:t>A comprehensive side-by-side comparison of event-oriented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2C0"/>
                </a:solidFill>
                <a:latin typeface="Calibri"/>
              </a:rPr>
              <a:t>Cloud Integration  ·  Event Streaming  ·  SaaS Connectivity  ·  Change Data Capture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Platform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539496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5394960" cy="228600"/>
          </a:xfrm>
          <a:prstGeom prst="rect">
            <a:avLst/>
          </a:prstGeom>
          <a:solidFill>
            <a:srgbClr val="C74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🔷  Oracle OCI + OIC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074920" cy="411480"/>
          </a:xfrm>
          <a:prstGeom prst="rect">
            <a:avLst/>
          </a:prstGeom>
          <a:noFill/>
        </p:spPr>
        <p:txBody>
          <a:bodyPr wrap="square" lIns="45720" tIns="27432" bIns="27432">
            <a:spAutoFit/>
          </a:bodyPr>
          <a:lstStyle/>
          <a:p>
            <a:pPr algn="l"/>
            <a:r>
              <a:rPr sz="1100" b="1">
                <a:solidFill>
                  <a:srgbClr val="C74234"/>
                </a:solidFill>
                <a:latin typeface="Calibri"/>
              </a:rPr>
              <a:t>• OCI Events Service</a:t>
            </a:r>
          </a:p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  Tracks resource changes via CNCF CloudEvents; triggers Functions, Streaming &amp; Notifications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21408"/>
            <a:ext cx="5074920" cy="411480"/>
          </a:xfrm>
          <a:prstGeom prst="rect">
            <a:avLst/>
          </a:prstGeom>
          <a:noFill/>
        </p:spPr>
        <p:txBody>
          <a:bodyPr wrap="square" lIns="45720" tIns="27432" bIns="27432">
            <a:spAutoFit/>
          </a:bodyPr>
          <a:lstStyle/>
          <a:p>
            <a:pPr algn="l"/>
            <a:r>
              <a:rPr sz="1100" b="1">
                <a:solidFill>
                  <a:srgbClr val="C74234"/>
                </a:solidFill>
                <a:latin typeface="Calibri"/>
              </a:rPr>
              <a:t>• OCI Streaming</a:t>
            </a:r>
          </a:p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  Apache Kafka-compatible messaging with enterprise-grade durability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88336"/>
            <a:ext cx="5074920" cy="411480"/>
          </a:xfrm>
          <a:prstGeom prst="rect">
            <a:avLst/>
          </a:prstGeom>
          <a:noFill/>
        </p:spPr>
        <p:txBody>
          <a:bodyPr wrap="square" lIns="45720" tIns="27432" bIns="27432">
            <a:spAutoFit/>
          </a:bodyPr>
          <a:lstStyle/>
          <a:p>
            <a:pPr algn="l"/>
            <a:r>
              <a:rPr sz="1100" b="1">
                <a:solidFill>
                  <a:srgbClr val="C74234"/>
                </a:solidFill>
                <a:latin typeface="Calibri"/>
              </a:rPr>
              <a:t>• OCI Notifications</a:t>
            </a:r>
          </a:p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  Pub/sub broadcasting — email, SMS, Slack, PagerDuty, HTTPS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55264"/>
            <a:ext cx="5074920" cy="411480"/>
          </a:xfrm>
          <a:prstGeom prst="rect">
            <a:avLst/>
          </a:prstGeom>
          <a:noFill/>
        </p:spPr>
        <p:txBody>
          <a:bodyPr wrap="square" lIns="45720" tIns="27432" bIns="27432">
            <a:spAutoFit/>
          </a:bodyPr>
          <a:lstStyle/>
          <a:p>
            <a:pPr algn="l"/>
            <a:r>
              <a:rPr sz="1100" b="1">
                <a:solidFill>
                  <a:srgbClr val="C74234"/>
                </a:solidFill>
                <a:latin typeface="Calibri"/>
              </a:rPr>
              <a:t>• OCI Queues</a:t>
            </a:r>
          </a:p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  Managed message queuing (comparable to AWS SQS)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22191"/>
            <a:ext cx="5074920" cy="411480"/>
          </a:xfrm>
          <a:prstGeom prst="rect">
            <a:avLst/>
          </a:prstGeom>
          <a:noFill/>
        </p:spPr>
        <p:txBody>
          <a:bodyPr wrap="square" lIns="45720" tIns="27432" bIns="27432">
            <a:spAutoFit/>
          </a:bodyPr>
          <a:lstStyle/>
          <a:p>
            <a:pPr algn="l"/>
            <a:r>
              <a:rPr sz="1100" b="1">
                <a:solidFill>
                  <a:srgbClr val="C74234"/>
                </a:solidFill>
                <a:latin typeface="Calibri"/>
              </a:rPr>
              <a:t>• OIC Native Pub/Sub</a:t>
            </a:r>
          </a:p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  Publisher/subscriber pattern with JSON &amp; XML; highly performant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5074920" cy="411480"/>
          </a:xfrm>
          <a:prstGeom prst="rect">
            <a:avLst/>
          </a:prstGeom>
          <a:noFill/>
        </p:spPr>
        <p:txBody>
          <a:bodyPr wrap="square" lIns="45720" tIns="27432" bIns="27432">
            <a:spAutoFit/>
          </a:bodyPr>
          <a:lstStyle/>
          <a:p>
            <a:pPr algn="l"/>
            <a:r>
              <a:rPr sz="1100" b="1">
                <a:solidFill>
                  <a:srgbClr val="C74234"/>
                </a:solidFill>
                <a:latin typeface="Calibri"/>
              </a:rPr>
              <a:t>• SaaS Business Events</a:t>
            </a:r>
          </a:p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  Real-time events from Oracle ERP, SCM, HCM (e.g. SalesOrderStatusUpdated)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56048"/>
            <a:ext cx="5074920" cy="411480"/>
          </a:xfrm>
          <a:prstGeom prst="rect">
            <a:avLst/>
          </a:prstGeom>
          <a:noFill/>
        </p:spPr>
        <p:txBody>
          <a:bodyPr wrap="square" lIns="45720" tIns="27432" bIns="27432">
            <a:spAutoFit/>
          </a:bodyPr>
          <a:lstStyle/>
          <a:p>
            <a:pPr algn="l"/>
            <a:r>
              <a:rPr sz="1100" b="1">
                <a:solidFill>
                  <a:srgbClr val="C74234"/>
                </a:solidFill>
                <a:latin typeface="Calibri"/>
              </a:rPr>
              <a:t>• Technology Adapters</a:t>
            </a:r>
          </a:p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  Connects OCI Streaming, Oracle AQ, IBM MQ, OCI Queues, Amazon SQS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097280"/>
            <a:ext cx="539496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097280"/>
            <a:ext cx="5394960" cy="228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143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🔶  AWS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554480"/>
            <a:ext cx="5074920" cy="411480"/>
          </a:xfrm>
          <a:prstGeom prst="rect">
            <a:avLst/>
          </a:prstGeom>
          <a:noFill/>
        </p:spPr>
        <p:txBody>
          <a:bodyPr wrap="square" l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Calibri"/>
              </a:rPr>
              <a:t>• AWS EventBridge</a:t>
            </a:r>
          </a:p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  Fully managed serverless event bus connecting AWS services, custom apps &amp; 50+ SaaS platforms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21408"/>
            <a:ext cx="5074920" cy="411480"/>
          </a:xfrm>
          <a:prstGeom prst="rect">
            <a:avLst/>
          </a:prstGeom>
          <a:noFill/>
        </p:spPr>
        <p:txBody>
          <a:bodyPr wrap="square" lIns="45720" tIns="27432" bIns="27432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  Supports intelligent filtering, routing to Lambda, and real-time event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688336"/>
            <a:ext cx="5074920" cy="411480"/>
          </a:xfrm>
          <a:prstGeom prst="rect">
            <a:avLst/>
          </a:prstGeom>
          <a:noFill/>
        </p:spPr>
        <p:txBody>
          <a:bodyPr wrap="square" l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Calibri"/>
              </a:rPr>
              <a:t>• DynamoDB Streams</a:t>
            </a:r>
          </a:p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  Captures a time-ordered log of item-level changes in DynamoDB tables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55264"/>
            <a:ext cx="5074920" cy="411480"/>
          </a:xfrm>
          <a:prstGeom prst="rect">
            <a:avLst/>
          </a:prstGeom>
          <a:noFill/>
        </p:spPr>
        <p:txBody>
          <a:bodyPr wrap="square" lIns="45720" tIns="27432" bIns="27432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  Stores change records for up to 24 hours with before/after item images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822191"/>
            <a:ext cx="5074920" cy="411480"/>
          </a:xfrm>
          <a:prstGeom prst="rect">
            <a:avLst/>
          </a:prstGeom>
          <a:noFill/>
        </p:spPr>
        <p:txBody>
          <a:bodyPr wrap="square" l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Calibri"/>
              </a:rPr>
              <a:t>• EventBridge Scheduler</a:t>
            </a:r>
          </a:p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  Purpose-built scheduler for millions of tasks across 270+ AWS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389120"/>
            <a:ext cx="5074920" cy="411480"/>
          </a:xfrm>
          <a:prstGeom prst="rect">
            <a:avLst/>
          </a:prstGeom>
          <a:noFill/>
        </p:spPr>
        <p:txBody>
          <a:bodyPr wrap="square" l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Calibri"/>
              </a:rPr>
              <a:t>• Schema Registry</a:t>
            </a:r>
          </a:p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  Discoverable, versioned event schemas with code binding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956048"/>
            <a:ext cx="5074920" cy="411480"/>
          </a:xfrm>
          <a:prstGeom prst="rect">
            <a:avLst/>
          </a:prstGeom>
          <a:noFill/>
        </p:spPr>
        <p:txBody>
          <a:bodyPr wrap="square" l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Calibri"/>
              </a:rPr>
              <a:t>• Global Endpoints</a:t>
            </a:r>
          </a:p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  Automatic rerouting to secondary region during outages for continuous event flow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1097280"/>
            <a:ext cx="73152" cy="53949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Feature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2103120" cy="33375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042416"/>
            <a:ext cx="2011679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0" y="1005840"/>
            <a:ext cx="2286000" cy="33375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86584" y="1042416"/>
            <a:ext cx="219456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OCI Events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005840"/>
            <a:ext cx="2286000" cy="33375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2583" y="1042416"/>
            <a:ext cx="219456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OIC Pub/Sub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1005840"/>
            <a:ext cx="2560320" cy="33375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58583" y="1042416"/>
            <a:ext cx="2468879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EventBridge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64040" y="1005840"/>
            <a:ext cx="2651760" cy="33375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18904" y="1042416"/>
            <a:ext cx="256032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DynamoDB Streams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339596"/>
            <a:ext cx="210312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1376172"/>
            <a:ext cx="2011679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Primary role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1339596"/>
            <a:ext cx="228600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86584" y="1376172"/>
            <a:ext cx="219456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Infra event routing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1339596"/>
            <a:ext cx="228600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1376172"/>
            <a:ext cx="219456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App integration &amp; SaaS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20" y="1339596"/>
            <a:ext cx="256032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58583" y="1376172"/>
            <a:ext cx="2468879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General-purpose event bus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64040" y="1339596"/>
            <a:ext cx="265176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18904" y="1376172"/>
            <a:ext cx="256032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Database-level CDC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1673352"/>
            <a:ext cx="210312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1709928"/>
            <a:ext cx="2011679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Event standard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31720" y="1673352"/>
            <a:ext cx="228600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6584" y="1709928"/>
            <a:ext cx="219456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CNCF CloudEvents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1673352"/>
            <a:ext cx="228600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72583" y="1709928"/>
            <a:ext cx="219456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JSON / XML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03720" y="1673352"/>
            <a:ext cx="256032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58583" y="1709928"/>
            <a:ext cx="2468879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JSON (custom schema)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64040" y="1673352"/>
            <a:ext cx="265176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18904" y="1709928"/>
            <a:ext cx="256032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JSON (DynamoDB-specific)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2007108"/>
            <a:ext cx="210312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" y="2043684"/>
            <a:ext cx="2011679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Event sources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31720" y="2007108"/>
            <a:ext cx="228600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86584" y="2043684"/>
            <a:ext cx="219456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OCI resource changes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2007108"/>
            <a:ext cx="228600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72583" y="2043684"/>
            <a:ext cx="219456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Oracle SaaS, legacy, REST/SOAP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03720" y="2007108"/>
            <a:ext cx="256032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58583" y="2043684"/>
            <a:ext cx="2468879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AWS, SaaS (50+), custom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64040" y="2007108"/>
            <a:ext cx="265176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18904" y="2043684"/>
            <a:ext cx="256032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DynamoDB mutations only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2340864"/>
            <a:ext cx="210312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464" y="2377440"/>
            <a:ext cx="2011679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SaaS integration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31720" y="2340864"/>
            <a:ext cx="228600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86584" y="2377440"/>
            <a:ext cx="219456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Limited (via OIC)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17720" y="2340864"/>
            <a:ext cx="228600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72583" y="2377440"/>
            <a:ext cx="219456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Deep Oracle SaaS (ERP, HCM, SCM)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03720" y="2340864"/>
            <a:ext cx="256032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58583" y="2377440"/>
            <a:ext cx="2468879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50+ SaaS partners natively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64040" y="2340864"/>
            <a:ext cx="265176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18904" y="2377440"/>
            <a:ext cx="256032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None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2674620"/>
            <a:ext cx="210312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3464" y="2711196"/>
            <a:ext cx="2011679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Kafka compat.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31720" y="2674620"/>
            <a:ext cx="228600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86584" y="2711196"/>
            <a:ext cx="219456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Yes (OCI Streaming)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17720" y="2674620"/>
            <a:ext cx="228600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72583" y="2711196"/>
            <a:ext cx="219456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Yes (via adapter)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03720" y="2674620"/>
            <a:ext cx="256032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58583" y="2711196"/>
            <a:ext cx="2468879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No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464040" y="2674620"/>
            <a:ext cx="265176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18904" y="2711196"/>
            <a:ext cx="256032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No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" y="3008376"/>
            <a:ext cx="210312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3464" y="3044952"/>
            <a:ext cx="2011679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Retention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331720" y="3008376"/>
            <a:ext cx="228600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386584" y="3044952"/>
            <a:ext cx="219456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Near real-time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617720" y="3008376"/>
            <a:ext cx="228600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72583" y="3044952"/>
            <a:ext cx="219456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Durable subscription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903720" y="3008376"/>
            <a:ext cx="256032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58583" y="3044952"/>
            <a:ext cx="2468879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24h archive (optional)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464040" y="3008376"/>
            <a:ext cx="265176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518904" y="3044952"/>
            <a:ext cx="256032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24 hours fixed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" y="3342132"/>
            <a:ext cx="210312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83464" y="3378708"/>
            <a:ext cx="2011679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Event replay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331720" y="3342132"/>
            <a:ext cx="228600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386584" y="3378708"/>
            <a:ext cx="219456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No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17720" y="3342132"/>
            <a:ext cx="228600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672583" y="3378708"/>
            <a:ext cx="219456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Backlog on reactivation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903720" y="3342132"/>
            <a:ext cx="256032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958583" y="3378708"/>
            <a:ext cx="2468879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Yes — archive &amp; replay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464040" y="3342132"/>
            <a:ext cx="265176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518904" y="3378708"/>
            <a:ext cx="256032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No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28600" y="3675887"/>
            <a:ext cx="210312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83464" y="3712463"/>
            <a:ext cx="2011679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Schema registry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331720" y="3675887"/>
            <a:ext cx="228600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386584" y="3712463"/>
            <a:ext cx="219456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No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17720" y="3675887"/>
            <a:ext cx="228600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672583" y="3712463"/>
            <a:ext cx="219456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No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903720" y="3675887"/>
            <a:ext cx="256032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958583" y="3712463"/>
            <a:ext cx="2468879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Yes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464040" y="3675887"/>
            <a:ext cx="265176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518904" y="3712463"/>
            <a:ext cx="256032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No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28600" y="4009644"/>
            <a:ext cx="210312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83464" y="4046220"/>
            <a:ext cx="2011679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CDC support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331720" y="4009644"/>
            <a:ext cx="228600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386584" y="4046220"/>
            <a:ext cx="219456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No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17720" y="4009644"/>
            <a:ext cx="228600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672583" y="4046220"/>
            <a:ext cx="219456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No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903720" y="4009644"/>
            <a:ext cx="256032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958583" y="4046220"/>
            <a:ext cx="2468879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No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464040" y="4009644"/>
            <a:ext cx="265176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518904" y="4046220"/>
            <a:ext cx="256032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Yes — native CDC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28600" y="4343400"/>
            <a:ext cx="210312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83464" y="4379976"/>
            <a:ext cx="2011679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Cross-region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331720" y="4343400"/>
            <a:ext cx="228600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386584" y="4379976"/>
            <a:ext cx="219456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No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17720" y="4343400"/>
            <a:ext cx="228600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672583" y="4379976"/>
            <a:ext cx="219456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No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903720" y="4343400"/>
            <a:ext cx="256032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958583" y="4379976"/>
            <a:ext cx="2468879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Yes — Global Endpoints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464040" y="4343400"/>
            <a:ext cx="265176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518904" y="4379976"/>
            <a:ext cx="256032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Via Kinesis Streams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28600" y="4677156"/>
            <a:ext cx="210312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83464" y="4713732"/>
            <a:ext cx="2011679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Ordering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331720" y="4677156"/>
            <a:ext cx="228600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386584" y="4713732"/>
            <a:ext cx="219456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Best-effort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17720" y="4677156"/>
            <a:ext cx="228600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672583" y="4713732"/>
            <a:ext cx="219456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Per-event type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903720" y="4677156"/>
            <a:ext cx="256032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958583" y="4713732"/>
            <a:ext cx="2468879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No strict ordering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464040" y="4677156"/>
            <a:ext cx="2651760" cy="3337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518904" y="4713732"/>
            <a:ext cx="256032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Partition-level ordering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28600" y="5010912"/>
            <a:ext cx="210312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83464" y="5047488"/>
            <a:ext cx="2011679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DLQ support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331720" y="5010912"/>
            <a:ext cx="228600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386584" y="5047488"/>
            <a:ext cx="219456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No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617720" y="5010912"/>
            <a:ext cx="228600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672583" y="5047488"/>
            <a:ext cx="219456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Yes (OIC+OCI)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903720" y="5010912"/>
            <a:ext cx="256032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958583" y="5047488"/>
            <a:ext cx="2468879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Yes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464040" y="5010912"/>
            <a:ext cx="2651760" cy="333756"/>
          </a:xfrm>
          <a:prstGeom prst="rect">
            <a:avLst/>
          </a:prstGeom>
          <a:solidFill>
            <a:srgbClr val="E8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518904" y="5047488"/>
            <a:ext cx="2560320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Yes (Lambda DLQ)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74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Where Oracle OCI + OIC Wins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571500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5715000" cy="73152"/>
          </a:xfrm>
          <a:prstGeom prst="rect">
            <a:avLst/>
          </a:prstGeom>
          <a:solidFill>
            <a:srgbClr val="C74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4234"/>
                </a:solidFill>
                <a:latin typeface="Calibri"/>
              </a:rPr>
              <a:t>Oracle SaaS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5349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Deep native integration with ERP, HCM, SCM, and CX events. AWS cannot match this out of the box. Real-time triggers like SalesOrderStatusUpdated or InventoryThresholdExceeded connect directly to business workflows.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71500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5715000" cy="73152"/>
          </a:xfrm>
          <a:prstGeom prst="rect">
            <a:avLst/>
          </a:prstGeom>
          <a:solidFill>
            <a:srgbClr val="C74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618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4234"/>
                </a:solidFill>
                <a:latin typeface="Calibri"/>
              </a:rPr>
              <a:t>Enterprise Middleware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55648"/>
            <a:ext cx="5349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OIC supports JMS (WebLogic, IBM MQ), Oracle AQ, and legacy SOAP/REST patterns — critical for organizations with on-prem middleware investments that need a hybrid integration layer.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703320"/>
            <a:ext cx="571500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3703320"/>
            <a:ext cx="5715000" cy="73152"/>
          </a:xfrm>
          <a:prstGeom prst="rect">
            <a:avLst/>
          </a:prstGeom>
          <a:solidFill>
            <a:srgbClr val="C74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867911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4234"/>
                </a:solidFill>
                <a:latin typeface="Calibri"/>
              </a:rPr>
              <a:t>Durable Subscriptions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61688"/>
            <a:ext cx="5349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Subscriber integrations can be deactivated while keeping the event subscription alive, enabling integrations to receive backlog events upon reactivation — a unique resilience pattern.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703320"/>
            <a:ext cx="571500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703320"/>
            <a:ext cx="5715000" cy="73152"/>
          </a:xfrm>
          <a:prstGeom prst="rect">
            <a:avLst/>
          </a:prstGeom>
          <a:solidFill>
            <a:srgbClr val="C74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867911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4234"/>
                </a:solidFill>
                <a:latin typeface="Calibri"/>
              </a:rPr>
              <a:t>Kafka Compatibility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361688"/>
            <a:ext cx="5349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OCI Streaming is Kafka-wire-compatible, letting teams reuse existing Kafka tooling, consumers, and producers without vendor lock-in. Ideal for high-throughput pipelines needing proven streaming semantics.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D4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Where AWS EventBridge Wins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55321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64008" cy="15087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7C00"/>
                </a:solidFill>
                <a:latin typeface="Calibri"/>
              </a:rPr>
              <a:t>Breadth of Targets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27631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270+ AWS service targets including Lambda, Step Functions, SNS, SQS, Kinesis, and API Destinations. Integrates with any HTTPS-based SaaS application and private APIs via AWS PrivateLink and Amazon VPC Lattice.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97280"/>
            <a:ext cx="55321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097280"/>
            <a:ext cx="64008" cy="15087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7C00"/>
                </a:solidFill>
                <a:latin typeface="Calibri"/>
              </a:rPr>
              <a:t>Schema 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27631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Discoverable, versioned event schemas with automatic code binding generation. Teams can discover event structures, enforce contracts, and auto-generate SDKs — something Oracle has no direct equivalent for.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743200"/>
            <a:ext cx="55321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743200"/>
            <a:ext cx="64008" cy="15087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834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7C00"/>
                </a:solidFill>
                <a:latin typeface="Calibri"/>
              </a:rPr>
              <a:t>Event Archive &amp; Replay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73552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Replay past events for debugging, testing, or recovery with configurable time-window replay. Oracle has no direct equivalent, making AWS superior for event sourcing and audit patterns.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743200"/>
            <a:ext cx="55321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743200"/>
            <a:ext cx="64008" cy="15087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834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7C00"/>
                </a:solidFill>
                <a:latin typeface="Calibri"/>
              </a:rPr>
              <a:t>EventBridge Scheduler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73552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Purpose-built scheduler for millions of scheduled tasks against 270+ AWS services. Supports one-time and recurring schedules with sub-minute precision and flexible error handling.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389120"/>
            <a:ext cx="55321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4389120"/>
            <a:ext cx="64008" cy="15087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48055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7C00"/>
                </a:solidFill>
                <a:latin typeface="Calibri"/>
              </a:rPr>
              <a:t>Global Endpoints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919472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Automatically reroutes event ingestion to a secondary region during outages, ensuring continuous event flow without manual intervention — a key enterprise resilience feature.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389120"/>
            <a:ext cx="55321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4389120"/>
            <a:ext cx="64008" cy="15087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48055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7C00"/>
                </a:solidFill>
                <a:latin typeface="Calibri"/>
              </a:rPr>
              <a:t>SaaS Breadth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919472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50+ native SaaS partners including Salesforce, Datadog, Zendesk, PagerDuty, and more on the Partner Bus. Easily extensible via API Destinations to any webhook-capable platform.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DynamoDB Streams — A Category of Its 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11521440" cy="1234440"/>
          </a:xfrm>
          <a:prstGeom prst="rect">
            <a:avLst/>
          </a:prstGeom>
          <a:solidFill>
            <a:srgbClr val="0A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  <a:latin typeface="Calibri"/>
              </a:rPr>
              <a:t>What Is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A time-ordered log of every item-level change (insert, update, delete) in a DynamoDB table, retained for 24 hours. Applications can view data both before and after modification in near-real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  <a:latin typeface="Calibri"/>
              </a:rPr>
              <a:t>Capture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834640"/>
            <a:ext cx="5577840" cy="914400"/>
          </a:xfrm>
          <a:prstGeom prst="rect">
            <a:avLst/>
          </a:prstGeom>
          <a:solidFill>
            <a:srgbClr val="07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9077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KEYS_ONLY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Records only the key attributes of modified items — minimal payload, lowest 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2834640"/>
            <a:ext cx="5577840" cy="914400"/>
          </a:xfrm>
          <a:prstGeom prst="rect">
            <a:avLst/>
          </a:prstGeom>
          <a:solidFill>
            <a:srgbClr val="07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9077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NEW_IMAGE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2918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Entire item as it appears after the change — use for downstream sync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840480"/>
            <a:ext cx="5577840" cy="914400"/>
          </a:xfrm>
          <a:prstGeom prst="rect">
            <a:avLst/>
          </a:prstGeom>
          <a:solidFill>
            <a:srgbClr val="07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136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OLD_IMAGE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976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Entire item before the change — use for audit/undo patterns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79" y="3840480"/>
            <a:ext cx="5577840" cy="914400"/>
          </a:xfrm>
          <a:prstGeom prst="rect">
            <a:avLst/>
          </a:prstGeom>
          <a:solidFill>
            <a:srgbClr val="07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9136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NEW_AND_OLD_IMAGES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2976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Full before AND after — complete change history, highest detail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919472"/>
            <a:ext cx="11521440" cy="1554480"/>
          </a:xfrm>
          <a:prstGeom prst="rect">
            <a:avLst/>
          </a:prstGeom>
          <a:solidFill>
            <a:srgbClr val="3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010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4234"/>
                </a:solidFill>
                <a:latin typeface="Calibri"/>
              </a:rPr>
              <a:t>Oracle Equivalent?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94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Oracle GoldenGate (CDC for Oracle DB) or OCI Database Service triggers — but neither is a serverless-native equivalent. DynamoDB Streams is unique in that it is zero-infrastructure, shard-based, and natively integrates with Lambda, Kinesis Data Streams, and Apache Flink simultaneously.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When to Use What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715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64008" cy="457200"/>
          </a:xfrm>
          <a:prstGeom prst="rect">
            <a:avLst/>
          </a:prstGeom>
          <a:solidFill>
            <a:srgbClr val="C74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088136"/>
            <a:ext cx="314325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Oracle ERP/HCM SaaS event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7882" y="1088136"/>
            <a:ext cx="245745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4234"/>
                </a:solidFill>
                <a:latin typeface="Calibri"/>
              </a:rPr>
              <a:t>OIC SaaS Business Events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051560"/>
            <a:ext cx="5715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051560"/>
            <a:ext cx="64008" cy="457200"/>
          </a:xfrm>
          <a:prstGeom prst="rect">
            <a:avLst/>
          </a:prstGeom>
          <a:solidFill>
            <a:srgbClr val="C74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088136"/>
            <a:ext cx="314325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High-throughput Kafka-style streaming on OCI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71482" y="1088136"/>
            <a:ext cx="245745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4234"/>
                </a:solidFill>
                <a:latin typeface="Calibri"/>
              </a:rPr>
              <a:t>OCI Streaming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54480"/>
            <a:ext cx="5715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554480"/>
            <a:ext cx="64008" cy="457200"/>
          </a:xfrm>
          <a:prstGeom prst="rect">
            <a:avLst/>
          </a:prstGeom>
          <a:solidFill>
            <a:srgbClr val="C74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1591056"/>
            <a:ext cx="314325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OCI infrastructure automation (VM started, file uploaded)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7882" y="1591056"/>
            <a:ext cx="245745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4234"/>
                </a:solidFill>
                <a:latin typeface="Calibri"/>
              </a:rPr>
              <a:t>OCI Events Service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554480"/>
            <a:ext cx="5715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554480"/>
            <a:ext cx="64008" cy="457200"/>
          </a:xfrm>
          <a:prstGeom prst="rect">
            <a:avLst/>
          </a:prstGeom>
          <a:solidFill>
            <a:srgbClr val="C74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1591056"/>
            <a:ext cx="314325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Legacy enterprise integration (MQ, AQ, SOAP)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1482" y="1591056"/>
            <a:ext cx="245745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4234"/>
                </a:solidFill>
                <a:latin typeface="Calibri"/>
              </a:rPr>
              <a:t>OIC Technology Adapters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057400"/>
            <a:ext cx="5715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057400"/>
            <a:ext cx="64008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" y="2093976"/>
            <a:ext cx="314325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AWS service-to-service event 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7882" y="2093976"/>
            <a:ext cx="245745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00"/>
                </a:solidFill>
                <a:latin typeface="Calibri"/>
              </a:rPr>
              <a:t>EventBridge — Default Bus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057400"/>
            <a:ext cx="5715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2057400"/>
            <a:ext cx="64008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1" y="2093976"/>
            <a:ext cx="314325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SaaS ↔ AWS integration (Salesforce, Datadog…)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1482" y="2093976"/>
            <a:ext cx="245745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00"/>
                </a:solidFill>
                <a:latin typeface="Calibri"/>
              </a:rPr>
              <a:t>EventBridge — Partner Bus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560320"/>
            <a:ext cx="5715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2560320"/>
            <a:ext cx="64008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" y="2596896"/>
            <a:ext cx="314325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React to every DynamoDB record insert/update/delete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7882" y="2596896"/>
            <a:ext cx="245745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00"/>
                </a:solidFill>
                <a:latin typeface="Calibri"/>
              </a:rPr>
              <a:t>DynamoDB Streams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560320"/>
            <a:ext cx="5715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2560320"/>
            <a:ext cx="64008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1" y="2596896"/>
            <a:ext cx="314325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Scheduled tasks at cloud scale (millions of jobs)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71482" y="2596896"/>
            <a:ext cx="245745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00"/>
                </a:solidFill>
                <a:latin typeface="Calibri"/>
              </a:rPr>
              <a:t>EventBridge Scheduler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063240"/>
            <a:ext cx="11521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3063240"/>
            <a:ext cx="64008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" y="3099816"/>
            <a:ext cx="633679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Cross-cloud / multi-cloud event fabric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21424" y="3099816"/>
            <a:ext cx="495421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OCI Streaming (Kafka) or EventBridge API Destinations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6B"/>
                </a:solidFill>
                <a:latin typeface="Calibri"/>
              </a:rPr>
              <a:t>■  Oracle stack     ■  AWS stack     ■  Cross-cloud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OCI Latency &amp; Throughput Considerations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53212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553212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0642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API Gateway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5257800" cy="2103120"/>
          </a:xfrm>
          <a:prstGeom prst="rect">
            <a:avLst/>
          </a:prstGeom>
          <a:noFill/>
        </p:spPr>
        <p:txBody>
          <a:bodyPr wrap="square" lIns="45720" tIns="27432" bIns="27432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• 1,000 concurrent HTTPS connections per IP address</a:t>
            </a:r>
          </a:p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• 15-second read timeout for headers, bodies &amp; responses</a:t>
            </a:r>
          </a:p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• Default limit ~10 TPS — proactive increase to 100+ TPS needed for high-volume monitoring</a:t>
            </a:r>
          </a:p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• Up to 20 API deployments; 50 routes per deployment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51560"/>
            <a:ext cx="553212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051560"/>
            <a:ext cx="553212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10642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Streaming &amp;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27048"/>
            <a:ext cx="5257800" cy="2103120"/>
          </a:xfrm>
          <a:prstGeom prst="rect">
            <a:avLst/>
          </a:prstGeom>
          <a:noFill/>
        </p:spPr>
        <p:txBody>
          <a:bodyPr wrap="square" lIns="45720" tIns="27432" bIns="27432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• Each partition: max 1 MB/s writes and 2 MB/s reads</a:t>
            </a:r>
          </a:p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• Maximum message size: 1 MB per event</a:t>
            </a:r>
          </a:p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• OIC SaaS business events: not suitable for &gt;1,000 events/hour — use OCI Streaming instead</a:t>
            </a:r>
          </a:p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• OCI Events cannot push directly to private streams (requires an OCI Function intermediary)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794760"/>
            <a:ext cx="553212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3794760"/>
            <a:ext cx="553212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84962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Functions &amp; Serverless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70248"/>
            <a:ext cx="5257800" cy="2103120"/>
          </a:xfrm>
          <a:prstGeom prst="rect">
            <a:avLst/>
          </a:prstGeom>
          <a:noFill/>
        </p:spPr>
        <p:txBody>
          <a:bodyPr wrap="square" lIns="45720" tIns="27432" bIns="27432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• Scales on total allocated memory per AD (default ~60 GB total — unlike Lambda's seat-based model)</a:t>
            </a:r>
          </a:p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• 5-minute default timeout; 4 GB memory cap; limited /tmp storage</a:t>
            </a:r>
          </a:p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• High-frequency async workloads may hit cold starts — provisioned concurrency can mitigate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794760"/>
            <a:ext cx="553212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794760"/>
            <a:ext cx="553212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84962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Best Practices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270248"/>
            <a:ext cx="5257800" cy="2103120"/>
          </a:xfrm>
          <a:prstGeom prst="rect">
            <a:avLst/>
          </a:prstGeom>
          <a:noFill/>
        </p:spPr>
        <p:txBody>
          <a:bodyPr wrap="square" lIns="45720" tIns="27432" bIns="27432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• Use OCI Streaming (Kafka-compatible) to decouple producers from consumers and handle bursts</a:t>
            </a:r>
          </a:p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• Implement batch writes and async I/O to improve throughput for downstream systems</a:t>
            </a:r>
          </a:p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• Set alarms on OCI Streaming metrics (Put Messages Throttled Records) to detect partition saturation</a:t>
            </a:r>
          </a:p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• Use FastConnect over VPN for fixed bandwidth and lower latency to on-premises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Bottom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0584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0789920" cy="1417320"/>
          </a:xfrm>
          <a:prstGeom prst="rect">
            <a:avLst/>
          </a:prstGeom>
          <a:solidFill>
            <a:srgbClr val="07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82296" cy="1417320"/>
          </a:xfrm>
          <a:prstGeom prst="rect">
            <a:avLst/>
          </a:prstGeom>
          <a:solidFill>
            <a:srgbClr val="C74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4234"/>
                </a:solidFill>
                <a:latin typeface="Calibri"/>
              </a:rPr>
              <a:t>Oracle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Strength is enterprise application integration — especially within the Oracle SaaS ecosystem. OIC + OCI Streaming is the go-to for organizations already invested in Oracle ERP, HCM, or SCM and needing deep, low-code integration with real-time SaaS events.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81528"/>
            <a:ext cx="10789920" cy="1417320"/>
          </a:xfrm>
          <a:prstGeom prst="rect">
            <a:avLst/>
          </a:prstGeom>
          <a:solidFill>
            <a:srgbClr val="07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081528"/>
            <a:ext cx="82296" cy="14173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17296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900"/>
                </a:solidFill>
                <a:latin typeface="Calibri"/>
              </a:rPr>
              <a:t>AWS EventBridge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30168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Excels as a general-purpose, cloud-native event bus with superior routing, schema management, SaaS partner breadth, and global resilience. The Scheduler and Global Endpoints add orchestration and HA capabilities Oracle has no direct equivalent for.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54296"/>
            <a:ext cx="10789920" cy="1417320"/>
          </a:xfrm>
          <a:prstGeom prst="rect">
            <a:avLst/>
          </a:prstGeom>
          <a:solidFill>
            <a:srgbClr val="07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654296"/>
            <a:ext cx="82296" cy="1417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4573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Calibri"/>
              </a:rPr>
              <a:t>DynamoDB Streams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202936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Purpose-built for database-level CDC with no direct Oracle serverless equivalent. Oracle's answer is GoldenGate or OIC database adapters — both requiring more operational overhead. DynamoDB Streams + Lambda is uniquely low-friction for reactive database patterns.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63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Choose based on your ecosystem, integration patterns, and throughput requirements.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